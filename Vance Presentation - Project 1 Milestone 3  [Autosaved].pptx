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52"/>
    <p:restoredTop sz="85277"/>
  </p:normalViewPr>
  <p:slideViewPr>
    <p:cSldViewPr snapToGrid="0">
      <p:cViewPr varScale="1">
        <p:scale>
          <a:sx n="103" d="100"/>
          <a:sy n="103" d="100"/>
        </p:scale>
        <p:origin x="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91E04-7BB3-8542-A7E8-3993BD214801}" type="datetimeFigureOut">
              <a:rPr lang="en-US" smtClean="0"/>
              <a:t>1/22/26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0459A-E0E8-0F4F-98D3-8456D0CBF13C}" type="slidenum">
              <a:rPr lang="en-US" smtClean="0"/>
              <a:t>‹#›</a:t>
            </a:fld>
            <a:endParaRPr lang="en-US"/>
          </a:p>
        </p:txBody>
      </p:sp>
    </p:spTree>
    <p:extLst>
      <p:ext uri="{BB962C8B-B14F-4D97-AF65-F5344CB8AC3E}">
        <p14:creationId xmlns:p14="http://schemas.microsoft.com/office/powerpoint/2010/main" val="271016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Gabriel Vance.</a:t>
            </a:r>
          </a:p>
        </p:txBody>
      </p:sp>
      <p:sp>
        <p:nvSpPr>
          <p:cNvPr id="4" name="Slide Number Placeholder 3"/>
          <p:cNvSpPr>
            <a:spLocks noGrp="1"/>
          </p:cNvSpPr>
          <p:nvPr>
            <p:ph type="sldNum" sz="quarter" idx="5"/>
          </p:nvPr>
        </p:nvSpPr>
        <p:spPr/>
        <p:txBody>
          <a:bodyPr/>
          <a:lstStyle/>
          <a:p>
            <a:fld id="{7A20459A-E0E8-0F4F-98D3-8456D0CBF13C}" type="slidenum">
              <a:rPr lang="en-US" smtClean="0"/>
              <a:t>1</a:t>
            </a:fld>
            <a:endParaRPr lang="en-US"/>
          </a:p>
        </p:txBody>
      </p:sp>
    </p:spTree>
    <p:extLst>
      <p:ext uri="{BB962C8B-B14F-4D97-AF65-F5344CB8AC3E}">
        <p14:creationId xmlns:p14="http://schemas.microsoft.com/office/powerpoint/2010/main" val="46755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Examples of fake news: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New York Man Wanted For Infecting 240 Men And Women With HIV!!!</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BREAKING: First NFL Team Declares Bankruptcy Over Kneeling Thugs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It can be a public safety, health hazard, it can make people paranoid/depressed, it clutters up the web. And it’s not real journalism or people. It’s heavily manufactured with the intent of getting your attention for advertisement dollars/influence.</a:t>
            </a:r>
          </a:p>
          <a:p>
            <a:endParaRPr lang="en-US" dirty="0"/>
          </a:p>
        </p:txBody>
      </p:sp>
      <p:sp>
        <p:nvSpPr>
          <p:cNvPr id="4" name="Slide Number Placeholder 3"/>
          <p:cNvSpPr>
            <a:spLocks noGrp="1"/>
          </p:cNvSpPr>
          <p:nvPr>
            <p:ph type="sldNum" sz="quarter" idx="5"/>
          </p:nvPr>
        </p:nvSpPr>
        <p:spPr/>
        <p:txBody>
          <a:bodyPr/>
          <a:lstStyle/>
          <a:p>
            <a:fld id="{7A20459A-E0E8-0F4F-98D3-8456D0CBF13C}" type="slidenum">
              <a:rPr lang="en-US" smtClean="0"/>
              <a:t>2</a:t>
            </a:fld>
            <a:endParaRPr lang="en-US"/>
          </a:p>
        </p:txBody>
      </p:sp>
    </p:spTree>
    <p:extLst>
      <p:ext uri="{BB962C8B-B14F-4D97-AF65-F5344CB8AC3E}">
        <p14:creationId xmlns:p14="http://schemas.microsoft.com/office/powerpoint/2010/main" val="2162742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Norman, Elsa. “Detecting Fake News Using Machine Learning.” </a:t>
            </a:r>
            <a:r>
              <a:rPr lang="en-US" sz="1200" i="1" kern="1200" dirty="0">
                <a:solidFill>
                  <a:schemeClr val="tx1"/>
                </a:solidFill>
                <a:effectLst/>
                <a:latin typeface="+mn-lt"/>
                <a:ea typeface="+mn-ea"/>
                <a:cs typeface="+mn-cs"/>
              </a:rPr>
              <a:t>Journal of Student</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Research</a:t>
            </a:r>
            <a:r>
              <a:rPr lang="en-US" sz="1200" kern="1200" dirty="0">
                <a:solidFill>
                  <a:schemeClr val="tx1"/>
                </a:solidFill>
                <a:effectLst/>
                <a:latin typeface="+mn-lt"/>
                <a:ea typeface="+mn-ea"/>
                <a:cs typeface="+mn-cs"/>
              </a:rPr>
              <a:t>, vol. 12, no. 1, 28 Feb. 2023, https://</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/10.47611/jsrhs.v12i1.3940.</a:t>
            </a:r>
          </a:p>
          <a:p>
            <a:r>
              <a:rPr lang="en-US" sz="1200" kern="1200" dirty="0">
                <a:solidFill>
                  <a:schemeClr val="tx1"/>
                </a:solidFill>
                <a:effectLst/>
                <a:latin typeface="+mn-lt"/>
                <a:ea typeface="+mn-ea"/>
                <a:cs typeface="+mn-cs"/>
              </a:rPr>
              <a:t>Accessed 5 May 2023.</a:t>
            </a:r>
          </a:p>
          <a:p>
            <a:endParaRPr lang="en-US" dirty="0"/>
          </a:p>
        </p:txBody>
      </p:sp>
      <p:sp>
        <p:nvSpPr>
          <p:cNvPr id="4" name="Slide Number Placeholder 3"/>
          <p:cNvSpPr>
            <a:spLocks noGrp="1"/>
          </p:cNvSpPr>
          <p:nvPr>
            <p:ph type="sldNum" sz="quarter" idx="5"/>
          </p:nvPr>
        </p:nvSpPr>
        <p:spPr/>
        <p:txBody>
          <a:bodyPr/>
          <a:lstStyle/>
          <a:p>
            <a:fld id="{7A20459A-E0E8-0F4F-98D3-8456D0CBF13C}" type="slidenum">
              <a:rPr lang="en-US" smtClean="0"/>
              <a:t>10</a:t>
            </a:fld>
            <a:endParaRPr lang="en-US"/>
          </a:p>
        </p:txBody>
      </p:sp>
    </p:spTree>
    <p:extLst>
      <p:ext uri="{BB962C8B-B14F-4D97-AF65-F5344CB8AC3E}">
        <p14:creationId xmlns:p14="http://schemas.microsoft.com/office/powerpoint/2010/main" val="3794697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20459A-E0E8-0F4F-98D3-8456D0CBF13C}" type="slidenum">
              <a:rPr lang="en-US" smtClean="0"/>
              <a:t>14</a:t>
            </a:fld>
            <a:endParaRPr lang="en-US"/>
          </a:p>
        </p:txBody>
      </p:sp>
    </p:spTree>
    <p:extLst>
      <p:ext uri="{BB962C8B-B14F-4D97-AF65-F5344CB8AC3E}">
        <p14:creationId xmlns:p14="http://schemas.microsoft.com/office/powerpoint/2010/main" val="2883945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1/22/26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92810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1/22/26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6686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1/22/26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127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1/22/26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2250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1/22/26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54320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1/22/26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83170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1/22/26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52364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1/22/26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08676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1/22/26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6451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1/22/26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34935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1/22/26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85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1/22/26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91854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2.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2.png"/><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Bluestone slates">
            <a:extLst>
              <a:ext uri="{FF2B5EF4-FFF2-40B4-BE49-F238E27FC236}">
                <a16:creationId xmlns:a16="http://schemas.microsoft.com/office/drawing/2014/main" id="{CE981F40-AD8C-6082-7BE1-38A0A3ECC735}"/>
              </a:ext>
            </a:extLst>
          </p:cNvPr>
          <p:cNvPicPr>
            <a:picLocks noChangeAspect="1"/>
          </p:cNvPicPr>
          <p:nvPr/>
        </p:nvPicPr>
        <p:blipFill>
          <a:blip r:embed="rId5">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BF42442B-6F93-1DBA-C007-EC0C7F0F039D}"/>
              </a:ext>
            </a:extLst>
          </p:cNvPr>
          <p:cNvSpPr>
            <a:spLocks noGrp="1"/>
          </p:cNvSpPr>
          <p:nvPr>
            <p:ph type="ctrTitle"/>
          </p:nvPr>
        </p:nvSpPr>
        <p:spPr>
          <a:xfrm>
            <a:off x="640080" y="985233"/>
            <a:ext cx="9987946" cy="3355853"/>
          </a:xfrm>
        </p:spPr>
        <p:txBody>
          <a:bodyPr anchor="t">
            <a:normAutofit fontScale="90000"/>
          </a:bodyPr>
          <a:lstStyle/>
          <a:p>
            <a:pPr>
              <a:lnSpc>
                <a:spcPct val="90000"/>
              </a:lnSpc>
            </a:pPr>
            <a:r>
              <a:rPr lang="en-US" sz="4700" dirty="0">
                <a:solidFill>
                  <a:srgbClr val="FFFFFF"/>
                </a:solidFill>
              </a:rPr>
              <a:t>Fake News Classification</a:t>
            </a:r>
            <a:br>
              <a:rPr lang="en-US" sz="4700" dirty="0">
                <a:solidFill>
                  <a:srgbClr val="FFFFFF"/>
                </a:solidFill>
              </a:rPr>
            </a:br>
            <a:r>
              <a:rPr lang="en-US" sz="4700" dirty="0">
                <a:solidFill>
                  <a:srgbClr val="FFFFFF"/>
                </a:solidFill>
              </a:rPr>
              <a:t>DSC-680 Applied Data Science</a:t>
            </a:r>
            <a:br>
              <a:rPr lang="en-US" sz="4700" dirty="0">
                <a:solidFill>
                  <a:srgbClr val="FFFFFF"/>
                </a:solidFill>
              </a:rPr>
            </a:br>
            <a:r>
              <a:rPr lang="en-US" dirty="0"/>
              <a:t>Professor </a:t>
            </a:r>
            <a:r>
              <a:rPr lang="en-US" dirty="0" err="1"/>
              <a:t>Amirfarrokh</a:t>
            </a:r>
            <a:r>
              <a:rPr lang="en-US" dirty="0"/>
              <a:t> </a:t>
            </a:r>
            <a:r>
              <a:rPr lang="en-US" dirty="0" err="1"/>
              <a:t>Iranitalab</a:t>
            </a:r>
            <a:br>
              <a:rPr lang="en-US" dirty="0"/>
            </a:br>
            <a:endParaRPr lang="en-US" sz="4700" dirty="0">
              <a:solidFill>
                <a:srgbClr val="FFFFFF"/>
              </a:solidFill>
            </a:endParaRPr>
          </a:p>
        </p:txBody>
      </p:sp>
      <p:sp>
        <p:nvSpPr>
          <p:cNvPr id="3" name="Subtitle 2">
            <a:extLst>
              <a:ext uri="{FF2B5EF4-FFF2-40B4-BE49-F238E27FC236}">
                <a16:creationId xmlns:a16="http://schemas.microsoft.com/office/drawing/2014/main" id="{F0E8083A-0E19-6866-8333-9169D9AD3EAB}"/>
              </a:ext>
            </a:extLst>
          </p:cNvPr>
          <p:cNvSpPr>
            <a:spLocks noGrp="1"/>
          </p:cNvSpPr>
          <p:nvPr>
            <p:ph type="subTitle" idx="1"/>
          </p:nvPr>
        </p:nvSpPr>
        <p:spPr>
          <a:xfrm>
            <a:off x="640080" y="5251621"/>
            <a:ext cx="4439920" cy="1104721"/>
          </a:xfrm>
        </p:spPr>
        <p:txBody>
          <a:bodyPr anchor="t">
            <a:normAutofit/>
          </a:bodyPr>
          <a:lstStyle/>
          <a:p>
            <a:r>
              <a:rPr lang="en-US" dirty="0">
                <a:solidFill>
                  <a:srgbClr val="FFFFFF"/>
                </a:solidFill>
              </a:rPr>
              <a:t>By Gabriel Vance</a:t>
            </a:r>
            <a:endParaRPr lang="en-US">
              <a:solidFill>
                <a:srgbClr val="FFFFFF"/>
              </a:solidFill>
            </a:endParaRPr>
          </a:p>
        </p:txBody>
      </p:sp>
      <p:cxnSp>
        <p:nvCxnSpPr>
          <p:cNvPr id="23" name="Straight Connector 22">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Audio 6">
            <a:extLst>
              <a:ext uri="{FF2B5EF4-FFF2-40B4-BE49-F238E27FC236}">
                <a16:creationId xmlns:a16="http://schemas.microsoft.com/office/drawing/2014/main" id="{0D02E56B-1764-708F-29FA-3BB499071B7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207106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3792"/>
    </mc:Choice>
    <mc:Fallback xmlns="">
      <p:transition spd="slow" advTm="137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700"/>
                                        <p:tgtEl>
                                          <p:spTgt spid="2"/>
                                        </p:tgtEl>
                                      </p:cBhvr>
                                    </p:animEffect>
                                  </p:childTnLst>
                                </p:cTn>
                              </p:par>
                              <p:par>
                                <p:cTn id="10" presetID="10" presetClass="entr" presetSubtype="0" fill="hold" grpId="0" nodeType="withEffect">
                                  <p:stCondLst>
                                    <p:cond delay="1500"/>
                                  </p:stCondLst>
                                  <p:iterate>
                                    <p:tmPct val="10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7"/>
                </p:tgtEl>
              </p:cMediaNode>
            </p:audi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9476EA-2DF0-ABC3-4CE0-F932E6AEC04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Bluestone slates">
            <a:extLst>
              <a:ext uri="{FF2B5EF4-FFF2-40B4-BE49-F238E27FC236}">
                <a16:creationId xmlns:a16="http://schemas.microsoft.com/office/drawing/2014/main" id="{E3E5F96F-498A-EC44-7DDE-CE7B49E0128A}"/>
              </a:ext>
            </a:extLst>
          </p:cNvPr>
          <p:cNvPicPr>
            <a:picLocks noChangeAspect="1"/>
          </p:cNvPicPr>
          <p:nvPr/>
        </p:nvPicPr>
        <p:blipFill>
          <a:blip r:embed="rId5">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FEBACB83-BB53-FDEF-2B8C-3FC5554A3A40}"/>
              </a:ext>
            </a:extLst>
          </p:cNvPr>
          <p:cNvSpPr>
            <a:spLocks noGrp="1"/>
          </p:cNvSpPr>
          <p:nvPr>
            <p:ph type="ctrTitle"/>
          </p:nvPr>
        </p:nvSpPr>
        <p:spPr>
          <a:xfrm>
            <a:off x="640080" y="985233"/>
            <a:ext cx="5758628" cy="3355853"/>
          </a:xfrm>
        </p:spPr>
        <p:txBody>
          <a:bodyPr anchor="t">
            <a:normAutofit/>
          </a:bodyPr>
          <a:lstStyle/>
          <a:p>
            <a:r>
              <a:rPr lang="en-US" sz="6000" b="0">
                <a:solidFill>
                  <a:srgbClr val="FFFFFF"/>
                </a:solidFill>
              </a:rPr>
              <a:t>Background</a:t>
            </a:r>
          </a:p>
        </p:txBody>
      </p:sp>
      <p:sp>
        <p:nvSpPr>
          <p:cNvPr id="6" name="Subtitle 5">
            <a:extLst>
              <a:ext uri="{FF2B5EF4-FFF2-40B4-BE49-F238E27FC236}">
                <a16:creationId xmlns:a16="http://schemas.microsoft.com/office/drawing/2014/main" id="{D6F86512-C2FD-E8DE-5422-BC4E6060CCBF}"/>
              </a:ext>
            </a:extLst>
          </p:cNvPr>
          <p:cNvSpPr>
            <a:spLocks noGrp="1"/>
          </p:cNvSpPr>
          <p:nvPr>
            <p:ph type="subTitle" idx="1"/>
          </p:nvPr>
        </p:nvSpPr>
        <p:spPr>
          <a:xfrm>
            <a:off x="1884218" y="2133601"/>
            <a:ext cx="9594550" cy="4222742"/>
          </a:xfrm>
        </p:spPr>
        <p:txBody>
          <a:bodyPr anchor="t">
            <a:normAutofit/>
          </a:bodyPr>
          <a:lstStyle/>
          <a:p>
            <a:pPr marL="285750" indent="-285750">
              <a:buFont typeface="Arial" panose="020B0604020202020204" pitchFamily="34" charset="0"/>
              <a:buChar char="•"/>
            </a:pPr>
            <a:r>
              <a:rPr lang="en-US" dirty="0">
                <a:solidFill>
                  <a:srgbClr val="FFFFFF"/>
                </a:solidFill>
              </a:rPr>
              <a:t>Fake news refers to the misinformation of events and Updates. It commonly overlaps with gossip, conspiracies, and other lies.</a:t>
            </a:r>
          </a:p>
          <a:p>
            <a:pPr marL="285750" indent="-285750">
              <a:buFont typeface="Arial" panose="020B0604020202020204" pitchFamily="34" charset="0"/>
              <a:buChar char="•"/>
            </a:pPr>
            <a:r>
              <a:rPr lang="en-US" dirty="0">
                <a:solidFill>
                  <a:srgbClr val="FFFFFF"/>
                </a:solidFill>
              </a:rPr>
              <a:t>The interest in fake news acts as the primary driving force in traffic. Despite its almost comedic and absurd content, fake news can sow seeds of distrust and confuse the public</a:t>
            </a:r>
          </a:p>
          <a:p>
            <a:pPr marL="285750" indent="-285750">
              <a:buFont typeface="Arial" panose="020B0604020202020204" pitchFamily="34" charset="0"/>
              <a:buChar char="•"/>
            </a:pPr>
            <a:r>
              <a:rPr lang="en-US" dirty="0">
                <a:solidFill>
                  <a:srgbClr val="FFFFFF"/>
                </a:solidFill>
              </a:rPr>
              <a:t>Technology has spread to the proliferation of fake news, but it can also aid in combating the spread</a:t>
            </a:r>
          </a:p>
          <a:p>
            <a:pPr marL="285750" indent="-285750">
              <a:buFont typeface="Arial" panose="020B0604020202020204" pitchFamily="34" charset="0"/>
              <a:buChar char="•"/>
            </a:pPr>
            <a:endParaRPr lang="en-US" dirty="0">
              <a:solidFill>
                <a:srgbClr val="FFFFFF"/>
              </a:solidFill>
            </a:endParaRPr>
          </a:p>
        </p:txBody>
      </p:sp>
      <p:cxnSp>
        <p:nvCxnSpPr>
          <p:cNvPr id="29" name="Straight Connector 28">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2" name="Audio 11">
            <a:extLst>
              <a:ext uri="{FF2B5EF4-FFF2-40B4-BE49-F238E27FC236}">
                <a16:creationId xmlns:a16="http://schemas.microsoft.com/office/drawing/2014/main" id="{CBD58262-D7E2-0875-BFB0-46DFD87C8CA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97919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42485"/>
    </mc:Choice>
    <mc:Fallback xmlns="">
      <p:transition spd="slow" advTm="424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2"/>
                </p:tgtEl>
              </p:cMediaNode>
            </p:audio>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CBA46E-52C0-FFC1-A3DA-85B9FD38E368}"/>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E46BB34-338A-D259-3107-41EFF16A1C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Bluestone slates">
            <a:extLst>
              <a:ext uri="{FF2B5EF4-FFF2-40B4-BE49-F238E27FC236}">
                <a16:creationId xmlns:a16="http://schemas.microsoft.com/office/drawing/2014/main" id="{6EDCAB50-088C-367E-F145-A77F6B4EF5F3}"/>
              </a:ext>
            </a:extLst>
          </p:cNvPr>
          <p:cNvPicPr>
            <a:picLocks noChangeAspect="1"/>
          </p:cNvPicPr>
          <p:nvPr/>
        </p:nvPicPr>
        <p:blipFill>
          <a:blip r:embed="rId4">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3060A9C9-66FC-230F-075E-4810FE9F90F2}"/>
              </a:ext>
            </a:extLst>
          </p:cNvPr>
          <p:cNvSpPr>
            <a:spLocks noGrp="1"/>
          </p:cNvSpPr>
          <p:nvPr>
            <p:ph type="ctrTitle"/>
          </p:nvPr>
        </p:nvSpPr>
        <p:spPr>
          <a:xfrm>
            <a:off x="640080" y="985234"/>
            <a:ext cx="6553934" cy="1148368"/>
          </a:xfrm>
        </p:spPr>
        <p:txBody>
          <a:bodyPr anchor="t">
            <a:normAutofit/>
          </a:bodyPr>
          <a:lstStyle/>
          <a:p>
            <a:r>
              <a:rPr lang="en-US" sz="6000" b="0" dirty="0">
                <a:solidFill>
                  <a:srgbClr val="FFFFFF"/>
                </a:solidFill>
              </a:rPr>
              <a:t>Business Objective</a:t>
            </a:r>
          </a:p>
        </p:txBody>
      </p:sp>
      <p:sp>
        <p:nvSpPr>
          <p:cNvPr id="6" name="Subtitle 5">
            <a:extLst>
              <a:ext uri="{FF2B5EF4-FFF2-40B4-BE49-F238E27FC236}">
                <a16:creationId xmlns:a16="http://schemas.microsoft.com/office/drawing/2014/main" id="{C8E2AD71-5C9A-316E-7330-30082B2335AB}"/>
              </a:ext>
            </a:extLst>
          </p:cNvPr>
          <p:cNvSpPr>
            <a:spLocks noGrp="1"/>
          </p:cNvSpPr>
          <p:nvPr>
            <p:ph type="subTitle" idx="1"/>
          </p:nvPr>
        </p:nvSpPr>
        <p:spPr>
          <a:xfrm>
            <a:off x="1884218" y="2133601"/>
            <a:ext cx="9594550" cy="4222742"/>
          </a:xfrm>
        </p:spPr>
        <p:txBody>
          <a:bodyPr anchor="t">
            <a:normAutofit/>
          </a:bodyPr>
          <a:lstStyle/>
          <a:p>
            <a:pPr marL="285750" indent="-285750">
              <a:buFont typeface="Arial" panose="020B0604020202020204" pitchFamily="34" charset="0"/>
              <a:buChar char="•"/>
            </a:pPr>
            <a:r>
              <a:rPr lang="en-US" dirty="0">
                <a:solidFill>
                  <a:srgbClr val="FFFFFF"/>
                </a:solidFill>
              </a:rPr>
              <a:t>Data analysis and machine learning models can help us understand the differences between real and fake news. By understanding these characteristics, we can create models that will predict whether a news article is fake.</a:t>
            </a:r>
          </a:p>
          <a:p>
            <a:pPr marL="285750" indent="-285750">
              <a:buFont typeface="Arial" panose="020B0604020202020204" pitchFamily="34" charset="0"/>
              <a:buChar char="•"/>
            </a:pPr>
            <a:r>
              <a:rPr lang="en-US" dirty="0">
                <a:solidFill>
                  <a:srgbClr val="FFFFFF"/>
                </a:solidFill>
              </a:rPr>
              <a:t>To maintain confidence that our model does better than merely guessing true or false, we will evaluate the model on unseen data with a goal of 75% accuracy.</a:t>
            </a:r>
          </a:p>
          <a:p>
            <a:pPr marL="285750" indent="-285750">
              <a:buFont typeface="Arial" panose="020B0604020202020204" pitchFamily="34" charset="0"/>
              <a:buChar char="•"/>
            </a:pPr>
            <a:r>
              <a:rPr lang="en-US" dirty="0">
                <a:solidFill>
                  <a:srgbClr val="FFFFFF"/>
                </a:solidFill>
              </a:rPr>
              <a:t>We hope to tell the story of what differentiates real news from fake news and visualize the results.</a:t>
            </a:r>
          </a:p>
          <a:p>
            <a:pPr marL="285750" indent="-285750">
              <a:buFont typeface="Arial" panose="020B0604020202020204" pitchFamily="34" charset="0"/>
              <a:buChar char="•"/>
            </a:pPr>
            <a:endParaRPr lang="en-US" dirty="0">
              <a:solidFill>
                <a:srgbClr val="FFFFFF"/>
              </a:solidFill>
            </a:endParaRPr>
          </a:p>
        </p:txBody>
      </p:sp>
      <p:cxnSp>
        <p:nvCxnSpPr>
          <p:cNvPr id="29" name="Straight Connector 28">
            <a:extLst>
              <a:ext uri="{FF2B5EF4-FFF2-40B4-BE49-F238E27FC236}">
                <a16:creationId xmlns:a16="http://schemas.microsoft.com/office/drawing/2014/main" id="{E1097CC1-EFF7-FF20-C1F3-69B5C27F41E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Audio 6">
            <a:extLst>
              <a:ext uri="{FF2B5EF4-FFF2-40B4-BE49-F238E27FC236}">
                <a16:creationId xmlns:a16="http://schemas.microsoft.com/office/drawing/2014/main" id="{0930E68F-E053-24DC-E286-3835CBF7A00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88992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6272"/>
    </mc:Choice>
    <mc:Fallback xmlns="">
      <p:transition spd="slow" advTm="262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24CEE9-5541-2C6D-885D-E6EC9CC1B791}"/>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54443D5-3D2F-4D8A-BCBE-D98A744814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AAABAD61-3710-783C-7247-B7241D50C869}"/>
              </a:ext>
            </a:extLst>
          </p:cNvPr>
          <p:cNvPicPr>
            <a:picLocks noChangeAspect="1"/>
          </p:cNvPicPr>
          <p:nvPr/>
        </p:nvPicPr>
        <p:blipFill>
          <a:blip r:embed="rId4">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B469C1E7-5221-832B-F688-083B13B32E8A}"/>
              </a:ext>
            </a:extLst>
          </p:cNvPr>
          <p:cNvSpPr>
            <a:spLocks noGrp="1"/>
          </p:cNvSpPr>
          <p:nvPr>
            <p:ph type="ctrTitle"/>
          </p:nvPr>
        </p:nvSpPr>
        <p:spPr>
          <a:xfrm>
            <a:off x="640080" y="985234"/>
            <a:ext cx="6553934" cy="1148368"/>
          </a:xfrm>
        </p:spPr>
        <p:txBody>
          <a:bodyPr anchor="t">
            <a:normAutofit/>
          </a:bodyPr>
          <a:lstStyle/>
          <a:p>
            <a:r>
              <a:rPr lang="en-US" sz="6000" b="0" dirty="0">
                <a:solidFill>
                  <a:srgbClr val="FFFFFF"/>
                </a:solidFill>
              </a:rPr>
              <a:t>Data Collection</a:t>
            </a:r>
          </a:p>
        </p:txBody>
      </p:sp>
      <p:sp>
        <p:nvSpPr>
          <p:cNvPr id="6" name="Subtitle 5">
            <a:extLst>
              <a:ext uri="{FF2B5EF4-FFF2-40B4-BE49-F238E27FC236}">
                <a16:creationId xmlns:a16="http://schemas.microsoft.com/office/drawing/2014/main" id="{41485EB6-6483-A78C-4FD6-3172D7C25043}"/>
              </a:ext>
            </a:extLst>
          </p:cNvPr>
          <p:cNvSpPr>
            <a:spLocks noGrp="1"/>
          </p:cNvSpPr>
          <p:nvPr>
            <p:ph type="subTitle" idx="1"/>
          </p:nvPr>
        </p:nvSpPr>
        <p:spPr>
          <a:xfrm>
            <a:off x="1884218" y="2133601"/>
            <a:ext cx="9594550" cy="4222742"/>
          </a:xfrm>
        </p:spPr>
        <p:txBody>
          <a:bodyPr anchor="t">
            <a:normAutofit/>
          </a:bodyPr>
          <a:lstStyle/>
          <a:p>
            <a:pPr marL="285750" indent="-285750">
              <a:buFont typeface="Arial" panose="020B0604020202020204" pitchFamily="34" charset="0"/>
              <a:buChar char="•"/>
            </a:pPr>
            <a:r>
              <a:rPr lang="en-US" dirty="0">
                <a:solidFill>
                  <a:srgbClr val="FFFFFF"/>
                </a:solidFill>
              </a:rPr>
              <a:t>Kaggle is one of the leading sources of datasets. Not only does it contain a wide variety of datasets, but the data sets are routinely downloaded and evaluated, giving them transparency and criticism from the data science community.</a:t>
            </a:r>
          </a:p>
          <a:p>
            <a:pPr marL="285750" indent="-285750">
              <a:buFont typeface="Arial" panose="020B0604020202020204" pitchFamily="34" charset="0"/>
              <a:buChar char="•"/>
            </a:pPr>
            <a:r>
              <a:rPr lang="en-US" dirty="0">
                <a:solidFill>
                  <a:srgbClr val="FFFFFF"/>
                </a:solidFill>
              </a:rPr>
              <a:t>The data was obtained from the </a:t>
            </a:r>
            <a:r>
              <a:rPr lang="en-US" dirty="0" err="1">
                <a:solidFill>
                  <a:srgbClr val="FFFFFF"/>
                </a:solidFill>
              </a:rPr>
              <a:t>FakeNewsNet</a:t>
            </a:r>
            <a:r>
              <a:rPr lang="en-US" dirty="0">
                <a:solidFill>
                  <a:srgbClr val="FFFFFF"/>
                </a:solidFill>
              </a:rPr>
              <a:t> </a:t>
            </a:r>
            <a:r>
              <a:rPr lang="en-US" dirty="0" err="1">
                <a:solidFill>
                  <a:srgbClr val="FFFFFF"/>
                </a:solidFill>
              </a:rPr>
              <a:t>github</a:t>
            </a:r>
            <a:r>
              <a:rPr lang="en-US" dirty="0">
                <a:solidFill>
                  <a:srgbClr val="FFFFFF"/>
                </a:solidFill>
              </a:rPr>
              <a:t> repository. The data itself was designated true or false based on the fact checking website politico. </a:t>
            </a:r>
          </a:p>
          <a:p>
            <a:pPr marL="285750" indent="-285750">
              <a:buFont typeface="Arial" panose="020B0604020202020204" pitchFamily="34" charset="0"/>
              <a:buChar char="•"/>
            </a:pPr>
            <a:endParaRPr lang="en-US" dirty="0">
              <a:solidFill>
                <a:srgbClr val="FFFFFF"/>
              </a:solidFill>
            </a:endParaRPr>
          </a:p>
        </p:txBody>
      </p:sp>
      <p:cxnSp>
        <p:nvCxnSpPr>
          <p:cNvPr id="29" name="Straight Connector 28">
            <a:extLst>
              <a:ext uri="{FF2B5EF4-FFF2-40B4-BE49-F238E27FC236}">
                <a16:creationId xmlns:a16="http://schemas.microsoft.com/office/drawing/2014/main" id="{14B93CD9-010F-193C-1DA1-8A222FAB93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Audio 6">
            <a:extLst>
              <a:ext uri="{FF2B5EF4-FFF2-40B4-BE49-F238E27FC236}">
                <a16:creationId xmlns:a16="http://schemas.microsoft.com/office/drawing/2014/main" id="{DE547F3B-48EB-52A3-0F9F-513C91E99F5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8029004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7370"/>
    </mc:Choice>
    <mc:Fallback xmlns="">
      <p:transition spd="slow" advTm="27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3345C9-5CF5-025C-A070-36EDC840D146}"/>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DE3A9D9-E829-11B5-A987-9ED8C92F05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D82E329D-E0E5-83F1-5367-7E7BB41D1EDF}"/>
              </a:ext>
            </a:extLst>
          </p:cNvPr>
          <p:cNvPicPr>
            <a:picLocks noChangeAspect="1"/>
          </p:cNvPicPr>
          <p:nvPr/>
        </p:nvPicPr>
        <p:blipFill>
          <a:blip r:embed="rId4">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D3C37508-7F5D-BA51-F4B0-8124E5633405}"/>
              </a:ext>
            </a:extLst>
          </p:cNvPr>
          <p:cNvSpPr>
            <a:spLocks noGrp="1"/>
          </p:cNvSpPr>
          <p:nvPr>
            <p:ph type="ctrTitle"/>
          </p:nvPr>
        </p:nvSpPr>
        <p:spPr>
          <a:xfrm>
            <a:off x="640080" y="985234"/>
            <a:ext cx="6553934" cy="1148368"/>
          </a:xfrm>
        </p:spPr>
        <p:txBody>
          <a:bodyPr anchor="t">
            <a:normAutofit/>
          </a:bodyPr>
          <a:lstStyle/>
          <a:p>
            <a:r>
              <a:rPr lang="en-US" sz="6000" b="0" dirty="0">
                <a:solidFill>
                  <a:srgbClr val="FFFFFF"/>
                </a:solidFill>
              </a:rPr>
              <a:t>Feature Analysis</a:t>
            </a:r>
          </a:p>
        </p:txBody>
      </p:sp>
      <p:sp>
        <p:nvSpPr>
          <p:cNvPr id="6" name="Subtitle 5">
            <a:extLst>
              <a:ext uri="{FF2B5EF4-FFF2-40B4-BE49-F238E27FC236}">
                <a16:creationId xmlns:a16="http://schemas.microsoft.com/office/drawing/2014/main" id="{6F0797E7-4690-D1A0-8EA5-00B9FE0E1673}"/>
              </a:ext>
            </a:extLst>
          </p:cNvPr>
          <p:cNvSpPr>
            <a:spLocks noGrp="1"/>
          </p:cNvSpPr>
          <p:nvPr>
            <p:ph type="subTitle" idx="1"/>
          </p:nvPr>
        </p:nvSpPr>
        <p:spPr>
          <a:xfrm>
            <a:off x="1884218" y="2133601"/>
            <a:ext cx="9594550" cy="4222742"/>
          </a:xfrm>
        </p:spPr>
        <p:txBody>
          <a:bodyPr anchor="t">
            <a:normAutofit/>
          </a:bodyPr>
          <a:lstStyle/>
          <a:p>
            <a:pPr marL="285750" indent="-285750">
              <a:buFont typeface="Arial" panose="020B0604020202020204" pitchFamily="34" charset="0"/>
              <a:buChar char="•"/>
            </a:pPr>
            <a:r>
              <a:rPr lang="en-US" dirty="0">
                <a:solidFill>
                  <a:srgbClr val="FFFFFF"/>
                </a:solidFill>
              </a:rPr>
              <a:t>The dataset was primarily comprised of 3 features. </a:t>
            </a:r>
          </a:p>
          <a:p>
            <a:pPr marL="742950" lvl="1" indent="-285750" algn="l">
              <a:buFont typeface="Arial" panose="020B0604020202020204" pitchFamily="34" charset="0"/>
              <a:buChar char="•"/>
            </a:pPr>
            <a:r>
              <a:rPr lang="en-US" dirty="0">
                <a:solidFill>
                  <a:srgbClr val="FFFFFF"/>
                </a:solidFill>
              </a:rPr>
              <a:t>Article title – the text of the article title</a:t>
            </a:r>
          </a:p>
          <a:p>
            <a:pPr marL="1200150" lvl="2" indent="-285750" algn="l">
              <a:buFont typeface="Arial" panose="020B0604020202020204" pitchFamily="34" charset="0"/>
              <a:buChar char="•"/>
            </a:pPr>
            <a:r>
              <a:rPr lang="en-US" dirty="0">
                <a:solidFill>
                  <a:srgbClr val="FFFFFF"/>
                </a:solidFill>
              </a:rPr>
              <a:t>Real - </a:t>
            </a:r>
            <a:r>
              <a:rPr lang="en-US" dirty="0"/>
              <a:t>Preventing the Flu: Good Health Habits Can Help Stop Germs</a:t>
            </a:r>
            <a:endParaRPr lang="en-US" dirty="0">
              <a:solidFill>
                <a:srgbClr val="FFFFFF"/>
              </a:solidFill>
            </a:endParaRPr>
          </a:p>
          <a:p>
            <a:pPr marL="1200150" lvl="2" indent="-285750" algn="l">
              <a:buFont typeface="Arial" panose="020B0604020202020204" pitchFamily="34" charset="0"/>
              <a:buChar char="•"/>
            </a:pPr>
            <a:r>
              <a:rPr lang="en-US" dirty="0">
                <a:solidFill>
                  <a:srgbClr val="FFFFFF"/>
                </a:solidFill>
              </a:rPr>
              <a:t>Fake - </a:t>
            </a:r>
            <a:r>
              <a:rPr lang="en-US" dirty="0"/>
              <a:t>BREAKING: First NFL Team Declares Bankruptcy Over Kneeling Thugs</a:t>
            </a:r>
            <a:endParaRPr lang="en-US" dirty="0">
              <a:solidFill>
                <a:srgbClr val="FFFFFF"/>
              </a:solidFill>
            </a:endParaRPr>
          </a:p>
          <a:p>
            <a:pPr marL="742950" lvl="1" indent="-285750" algn="l">
              <a:buFont typeface="Arial" panose="020B0604020202020204" pitchFamily="34" charset="0"/>
              <a:buChar char="•"/>
            </a:pPr>
            <a:r>
              <a:rPr lang="en-US" dirty="0">
                <a:solidFill>
                  <a:srgbClr val="FFFFFF"/>
                </a:solidFill>
              </a:rPr>
              <a:t>Tweet ids – The number of times the article was found to be tweeted</a:t>
            </a:r>
          </a:p>
          <a:p>
            <a:pPr marL="1200150" lvl="2" indent="-285750" algn="l">
              <a:buFont typeface="Arial" panose="020B0604020202020204" pitchFamily="34" charset="0"/>
              <a:buChar char="•"/>
            </a:pPr>
            <a:r>
              <a:rPr lang="en-US" dirty="0">
                <a:solidFill>
                  <a:srgbClr val="FFFFFF"/>
                </a:solidFill>
              </a:rPr>
              <a:t>Example: </a:t>
            </a:r>
            <a:r>
              <a:rPr lang="en-US" dirty="0"/>
              <a:t>494471648498941952,494473906578030592,494474086567792640</a:t>
            </a:r>
            <a:endParaRPr lang="en-US" dirty="0">
              <a:solidFill>
                <a:srgbClr val="FFFFFF"/>
              </a:solidFill>
            </a:endParaRPr>
          </a:p>
          <a:p>
            <a:pPr marL="742950" lvl="1" indent="-285750" algn="l">
              <a:buFont typeface="Arial" panose="020B0604020202020204" pitchFamily="34" charset="0"/>
              <a:buChar char="•"/>
            </a:pPr>
            <a:r>
              <a:rPr lang="en-US" dirty="0">
                <a:solidFill>
                  <a:srgbClr val="FFFFFF"/>
                </a:solidFill>
              </a:rPr>
              <a:t>URL – The origin source of the URL</a:t>
            </a:r>
          </a:p>
          <a:p>
            <a:pPr marL="1200150" lvl="2" indent="-285750" algn="l">
              <a:buFont typeface="Arial" panose="020B0604020202020204" pitchFamily="34" charset="0"/>
              <a:buChar char="•"/>
            </a:pPr>
            <a:r>
              <a:rPr lang="en-US" dirty="0">
                <a:solidFill>
                  <a:srgbClr val="FFFFFF"/>
                </a:solidFill>
              </a:rPr>
              <a:t>Real – </a:t>
            </a:r>
            <a:r>
              <a:rPr lang="en-US" dirty="0"/>
              <a:t>http://</a:t>
            </a:r>
            <a:r>
              <a:rPr lang="en-US" dirty="0" err="1"/>
              <a:t>www.nbcnews.com</a:t>
            </a:r>
            <a:r>
              <a:rPr lang="en-US" dirty="0"/>
              <a:t>/politics/first-read/impeachment-talk-becomes-cynical-game-n168436</a:t>
            </a:r>
            <a:endParaRPr lang="en-US" dirty="0">
              <a:solidFill>
                <a:srgbClr val="FFFFFF"/>
              </a:solidFill>
            </a:endParaRPr>
          </a:p>
          <a:p>
            <a:pPr marL="1200150" lvl="2" indent="-285750" algn="l">
              <a:buFont typeface="Arial" panose="020B0604020202020204" pitchFamily="34" charset="0"/>
              <a:buChar char="•"/>
            </a:pPr>
            <a:r>
              <a:rPr lang="en-US" dirty="0">
                <a:solidFill>
                  <a:srgbClr val="FFFFFF"/>
                </a:solidFill>
              </a:rPr>
              <a:t>Fake - </a:t>
            </a:r>
            <a:r>
              <a:rPr lang="en-US" dirty="0"/>
              <a:t>https://</a:t>
            </a:r>
            <a:r>
              <a:rPr lang="en-US" dirty="0" err="1"/>
              <a:t>howafrica.com</a:t>
            </a:r>
            <a:r>
              <a:rPr lang="en-US" dirty="0"/>
              <a:t>/</a:t>
            </a:r>
            <a:r>
              <a:rPr lang="en-US" dirty="0" err="1"/>
              <a:t>oscar</a:t>
            </a:r>
            <a:r>
              <a:rPr lang="en-US" dirty="0"/>
              <a:t>-</a:t>
            </a:r>
            <a:r>
              <a:rPr lang="en-US" dirty="0" err="1"/>
              <a:t>pistorius</a:t>
            </a:r>
            <a:r>
              <a:rPr lang="en-US" dirty="0"/>
              <a:t>-attempts-commit-suicide/</a:t>
            </a:r>
          </a:p>
          <a:p>
            <a:pPr marL="1200150" lvl="2" indent="-285750" algn="l">
              <a:buFont typeface="Arial" panose="020B0604020202020204" pitchFamily="34" charset="0"/>
              <a:buChar char="•"/>
            </a:pPr>
            <a:endParaRPr lang="en-US" dirty="0">
              <a:solidFill>
                <a:srgbClr val="FFFFFF"/>
              </a:solidFill>
            </a:endParaRPr>
          </a:p>
          <a:p>
            <a:pPr marL="285750" indent="-285750">
              <a:buFont typeface="Arial" panose="020B0604020202020204" pitchFamily="34" charset="0"/>
              <a:buChar char="•"/>
            </a:pPr>
            <a:endParaRPr lang="en-US" dirty="0">
              <a:solidFill>
                <a:srgbClr val="FFFFFF"/>
              </a:solidFill>
            </a:endParaRPr>
          </a:p>
          <a:p>
            <a:pPr marL="285750" indent="-285750">
              <a:buFont typeface="Arial" panose="020B0604020202020204" pitchFamily="34" charset="0"/>
              <a:buChar char="•"/>
            </a:pPr>
            <a:endParaRPr lang="en-US" dirty="0">
              <a:solidFill>
                <a:srgbClr val="FFFFFF"/>
              </a:solidFill>
            </a:endParaRPr>
          </a:p>
        </p:txBody>
      </p:sp>
      <p:cxnSp>
        <p:nvCxnSpPr>
          <p:cNvPr id="29" name="Straight Connector 28">
            <a:extLst>
              <a:ext uri="{FF2B5EF4-FFF2-40B4-BE49-F238E27FC236}">
                <a16:creationId xmlns:a16="http://schemas.microsoft.com/office/drawing/2014/main" id="{1BE9B4B7-DDF8-AD8F-4660-6760E769E1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Audio 6">
            <a:extLst>
              <a:ext uri="{FF2B5EF4-FFF2-40B4-BE49-F238E27FC236}">
                <a16:creationId xmlns:a16="http://schemas.microsoft.com/office/drawing/2014/main" id="{CEF222FC-20BB-7A0E-7319-66D882D156F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122385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6693"/>
    </mc:Choice>
    <mc:Fallback xmlns="">
      <p:transition spd="slow" advTm="366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979857-0B72-9308-8F81-D8AC1E913A2F}"/>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2800890-D54F-5D2D-68B3-414F15EC38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6A39E982-81C5-77EF-4CEA-84E7FAA8338D}"/>
              </a:ext>
            </a:extLst>
          </p:cNvPr>
          <p:cNvPicPr>
            <a:picLocks noChangeAspect="1"/>
          </p:cNvPicPr>
          <p:nvPr/>
        </p:nvPicPr>
        <p:blipFill>
          <a:blip r:embed="rId4">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9B3498A4-3D76-FABA-5DAE-98CCC04E6EDC}"/>
              </a:ext>
            </a:extLst>
          </p:cNvPr>
          <p:cNvSpPr>
            <a:spLocks noGrp="1"/>
          </p:cNvSpPr>
          <p:nvPr>
            <p:ph type="ctrTitle"/>
          </p:nvPr>
        </p:nvSpPr>
        <p:spPr>
          <a:xfrm>
            <a:off x="640080" y="985234"/>
            <a:ext cx="9903062" cy="1148368"/>
          </a:xfrm>
        </p:spPr>
        <p:txBody>
          <a:bodyPr anchor="t">
            <a:normAutofit/>
          </a:bodyPr>
          <a:lstStyle/>
          <a:p>
            <a:r>
              <a:rPr lang="en-US" sz="6000" b="0" dirty="0">
                <a:solidFill>
                  <a:srgbClr val="FFFFFF"/>
                </a:solidFill>
              </a:rPr>
              <a:t>EDA – Tweet IDS</a:t>
            </a:r>
          </a:p>
        </p:txBody>
      </p:sp>
      <p:sp>
        <p:nvSpPr>
          <p:cNvPr id="6" name="Subtitle 5">
            <a:extLst>
              <a:ext uri="{FF2B5EF4-FFF2-40B4-BE49-F238E27FC236}">
                <a16:creationId xmlns:a16="http://schemas.microsoft.com/office/drawing/2014/main" id="{49574F85-18C3-B648-27B2-69B678470064}"/>
              </a:ext>
            </a:extLst>
          </p:cNvPr>
          <p:cNvSpPr>
            <a:spLocks noGrp="1"/>
          </p:cNvSpPr>
          <p:nvPr>
            <p:ph type="subTitle" idx="1"/>
          </p:nvPr>
        </p:nvSpPr>
        <p:spPr>
          <a:xfrm>
            <a:off x="1884218" y="2699133"/>
            <a:ext cx="9594550" cy="3657209"/>
          </a:xfrm>
        </p:spPr>
        <p:txBody>
          <a:bodyPr anchor="t">
            <a:normAutofit/>
          </a:bodyPr>
          <a:lstStyle/>
          <a:p>
            <a:pPr marL="285750" indent="-285750">
              <a:buFont typeface="Arial" panose="020B0604020202020204" pitchFamily="34" charset="0"/>
              <a:buChar char="•"/>
            </a:pPr>
            <a:r>
              <a:rPr lang="en-US" dirty="0">
                <a:solidFill>
                  <a:srgbClr val="FFFFFF"/>
                </a:solidFill>
              </a:rPr>
              <a:t>Tweet ids themselves could be used with the twitter </a:t>
            </a:r>
            <a:r>
              <a:rPr lang="en-US" dirty="0" err="1">
                <a:solidFill>
                  <a:srgbClr val="FFFFFF"/>
                </a:solidFill>
              </a:rPr>
              <a:t>api</a:t>
            </a:r>
            <a:r>
              <a:rPr lang="en-US" dirty="0">
                <a:solidFill>
                  <a:srgbClr val="FFFFFF"/>
                </a:solidFill>
              </a:rPr>
              <a:t> to find the actual instances of the tweet.</a:t>
            </a:r>
          </a:p>
          <a:p>
            <a:pPr marL="285750" indent="-285750">
              <a:buFont typeface="Arial" panose="020B0604020202020204" pitchFamily="34" charset="0"/>
              <a:buChar char="•"/>
            </a:pPr>
            <a:r>
              <a:rPr lang="en-US" dirty="0">
                <a:solidFill>
                  <a:srgbClr val="FFFFFF"/>
                </a:solidFill>
              </a:rPr>
              <a:t>About 30% of real news had 0 tweets, yet the overall mean number of tweet counts was higher for real this. This indicates that most real news is “boring” and largely ignored by the public. </a:t>
            </a:r>
          </a:p>
          <a:p>
            <a:pPr marL="285750" indent="-285750">
              <a:buFont typeface="Arial" panose="020B0604020202020204" pitchFamily="34" charset="0"/>
              <a:buChar char="•"/>
            </a:pPr>
            <a:r>
              <a:rPr lang="en-US" dirty="0">
                <a:solidFill>
                  <a:srgbClr val="FFFFFF"/>
                </a:solidFill>
              </a:rPr>
              <a:t>By comparison, only 9% of fake news had 0 tweets. When standardized, Fake news was 38% more tweeted than real news.</a:t>
            </a:r>
          </a:p>
        </p:txBody>
      </p:sp>
      <p:cxnSp>
        <p:nvCxnSpPr>
          <p:cNvPr id="29" name="Straight Connector 28">
            <a:extLst>
              <a:ext uri="{FF2B5EF4-FFF2-40B4-BE49-F238E27FC236}">
                <a16:creationId xmlns:a16="http://schemas.microsoft.com/office/drawing/2014/main" id="{102487B9-333E-BE90-40FA-85D715153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1" name="Audio 10">
            <a:extLst>
              <a:ext uri="{FF2B5EF4-FFF2-40B4-BE49-F238E27FC236}">
                <a16:creationId xmlns:a16="http://schemas.microsoft.com/office/drawing/2014/main" id="{9254826A-3DD7-D6F2-2A7A-D69C1BFFCE6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90904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85408"/>
    </mc:Choice>
    <mc:Fallback xmlns="">
      <p:transition spd="slow" advTm="854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1"/>
                </p:tgtEl>
              </p:cMediaNode>
            </p:audio>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70B87A-8647-8B0F-F803-4C5D53A8CD21}"/>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91173AD-8406-B1EF-D649-FEFF29EE2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66CAFC85-CAD3-86BF-9EFB-4A34264908BD}"/>
              </a:ext>
            </a:extLst>
          </p:cNvPr>
          <p:cNvPicPr>
            <a:picLocks noChangeAspect="1"/>
          </p:cNvPicPr>
          <p:nvPr/>
        </p:nvPicPr>
        <p:blipFill>
          <a:blip r:embed="rId4">
            <a:alphaModFix amt="40000"/>
          </a:blip>
          <a:srcRect t="964" r="9091" b="22428"/>
          <a:stretch>
            <a:fillRect/>
          </a:stretch>
        </p:blipFill>
        <p:spPr>
          <a:xfrm>
            <a:off x="20" y="13659"/>
            <a:ext cx="12191980" cy="6857848"/>
          </a:xfrm>
          <a:prstGeom prst="rect">
            <a:avLst/>
          </a:prstGeom>
        </p:spPr>
      </p:pic>
      <p:sp>
        <p:nvSpPr>
          <p:cNvPr id="2" name="Title 1">
            <a:extLst>
              <a:ext uri="{FF2B5EF4-FFF2-40B4-BE49-F238E27FC236}">
                <a16:creationId xmlns:a16="http://schemas.microsoft.com/office/drawing/2014/main" id="{49C6F7E8-EE10-6B23-1A9A-12016F89D17D}"/>
              </a:ext>
            </a:extLst>
          </p:cNvPr>
          <p:cNvSpPr>
            <a:spLocks noGrp="1"/>
          </p:cNvSpPr>
          <p:nvPr>
            <p:ph type="ctrTitle"/>
          </p:nvPr>
        </p:nvSpPr>
        <p:spPr>
          <a:xfrm>
            <a:off x="640079" y="985234"/>
            <a:ext cx="11158985" cy="1148368"/>
          </a:xfrm>
        </p:spPr>
        <p:txBody>
          <a:bodyPr anchor="t">
            <a:normAutofit/>
          </a:bodyPr>
          <a:lstStyle/>
          <a:p>
            <a:r>
              <a:rPr lang="en-US" sz="6000" b="0" dirty="0">
                <a:solidFill>
                  <a:srgbClr val="FFFFFF"/>
                </a:solidFill>
              </a:rPr>
              <a:t>EDA – URLs</a:t>
            </a:r>
          </a:p>
        </p:txBody>
      </p:sp>
      <p:sp>
        <p:nvSpPr>
          <p:cNvPr id="6" name="Subtitle 5">
            <a:extLst>
              <a:ext uri="{FF2B5EF4-FFF2-40B4-BE49-F238E27FC236}">
                <a16:creationId xmlns:a16="http://schemas.microsoft.com/office/drawing/2014/main" id="{1BE5DFE8-CDB8-CD9E-8BBC-82029495C939}"/>
              </a:ext>
            </a:extLst>
          </p:cNvPr>
          <p:cNvSpPr>
            <a:spLocks noGrp="1"/>
          </p:cNvSpPr>
          <p:nvPr>
            <p:ph type="subTitle" idx="1"/>
          </p:nvPr>
        </p:nvSpPr>
        <p:spPr>
          <a:xfrm>
            <a:off x="6095999" y="528823"/>
            <a:ext cx="5632749" cy="2630013"/>
          </a:xfrm>
        </p:spPr>
        <p:txBody>
          <a:bodyPr anchor="t">
            <a:normAutofit/>
          </a:bodyPr>
          <a:lstStyle/>
          <a:p>
            <a:pPr marL="285750" indent="-285750">
              <a:buFont typeface="Arial" panose="020B0604020202020204" pitchFamily="34" charset="0"/>
              <a:buChar char="•"/>
            </a:pPr>
            <a:r>
              <a:rPr lang="en-US" dirty="0">
                <a:solidFill>
                  <a:srgbClr val="FFFFFF"/>
                </a:solidFill>
              </a:rPr>
              <a:t>URLs were a primary source for discerning real vs fake news</a:t>
            </a:r>
          </a:p>
          <a:p>
            <a:pPr marL="285750" indent="-285750">
              <a:buFont typeface="Arial" panose="020B0604020202020204" pitchFamily="34" charset="0"/>
              <a:buChar char="•"/>
            </a:pPr>
            <a:r>
              <a:rPr lang="en-US" dirty="0">
                <a:solidFill>
                  <a:srgbClr val="FFFFFF"/>
                </a:solidFill>
              </a:rPr>
              <a:t>Using Python libraries like </a:t>
            </a:r>
            <a:r>
              <a:rPr lang="en-US" dirty="0" err="1">
                <a:solidFill>
                  <a:srgbClr val="FFFFFF"/>
                </a:solidFill>
              </a:rPr>
              <a:t>tldextract</a:t>
            </a:r>
            <a:r>
              <a:rPr lang="en-US" dirty="0">
                <a:solidFill>
                  <a:srgbClr val="FFFFFF"/>
                </a:solidFill>
              </a:rPr>
              <a:t>, we can gather a list of domains and associate them with their respective datasets.</a:t>
            </a:r>
          </a:p>
          <a:p>
            <a:pPr marL="285750" indent="-285750">
              <a:buFont typeface="Arial" panose="020B0604020202020204" pitchFamily="34" charset="0"/>
              <a:buChar char="•"/>
            </a:pPr>
            <a:endParaRPr lang="en-US" dirty="0">
              <a:solidFill>
                <a:srgbClr val="FFFFFF"/>
              </a:solidFill>
            </a:endParaRPr>
          </a:p>
        </p:txBody>
      </p:sp>
      <p:cxnSp>
        <p:nvCxnSpPr>
          <p:cNvPr id="29" name="Straight Connector 28">
            <a:extLst>
              <a:ext uri="{FF2B5EF4-FFF2-40B4-BE49-F238E27FC236}">
                <a16:creationId xmlns:a16="http://schemas.microsoft.com/office/drawing/2014/main" id="{6EAAFE59-EF54-B2DE-F2CF-63F189D16C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graph of a number of different colored squares&#10;&#10;AI-generated content may be incorrect.">
            <a:extLst>
              <a:ext uri="{FF2B5EF4-FFF2-40B4-BE49-F238E27FC236}">
                <a16:creationId xmlns:a16="http://schemas.microsoft.com/office/drawing/2014/main" id="{68AEBBEA-55C7-AE22-2969-5C5F73F31BD7}"/>
              </a:ext>
            </a:extLst>
          </p:cNvPr>
          <p:cNvPicPr>
            <a:picLocks noChangeAspect="1"/>
          </p:cNvPicPr>
          <p:nvPr/>
        </p:nvPicPr>
        <p:blipFill>
          <a:blip r:embed="rId5"/>
          <a:stretch>
            <a:fillRect/>
          </a:stretch>
        </p:blipFill>
        <p:spPr>
          <a:xfrm>
            <a:off x="463251" y="2185890"/>
            <a:ext cx="5410200" cy="4064000"/>
          </a:xfrm>
          <a:prstGeom prst="rect">
            <a:avLst/>
          </a:prstGeom>
        </p:spPr>
      </p:pic>
      <p:pic>
        <p:nvPicPr>
          <p:cNvPr id="7" name="Picture 6" descr="A pie chart with a number of text&#10;&#10;AI-generated content may be incorrect.">
            <a:extLst>
              <a:ext uri="{FF2B5EF4-FFF2-40B4-BE49-F238E27FC236}">
                <a16:creationId xmlns:a16="http://schemas.microsoft.com/office/drawing/2014/main" id="{0E7E5947-F5B4-F9DA-3227-3A7C8075026F}"/>
              </a:ext>
            </a:extLst>
          </p:cNvPr>
          <p:cNvPicPr>
            <a:picLocks noChangeAspect="1"/>
          </p:cNvPicPr>
          <p:nvPr/>
        </p:nvPicPr>
        <p:blipFill>
          <a:blip r:embed="rId6"/>
          <a:stretch>
            <a:fillRect/>
          </a:stretch>
        </p:blipFill>
        <p:spPr>
          <a:xfrm>
            <a:off x="6663858" y="3020259"/>
            <a:ext cx="3708867" cy="3229631"/>
          </a:xfrm>
          <a:prstGeom prst="rect">
            <a:avLst/>
          </a:prstGeom>
        </p:spPr>
      </p:pic>
      <p:pic>
        <p:nvPicPr>
          <p:cNvPr id="18" name="Audio 17">
            <a:extLst>
              <a:ext uri="{FF2B5EF4-FFF2-40B4-BE49-F238E27FC236}">
                <a16:creationId xmlns:a16="http://schemas.microsoft.com/office/drawing/2014/main" id="{3E5DA870-1845-E320-0210-9CF18C76703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41244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41600"/>
    </mc:Choice>
    <mc:Fallback xmlns="">
      <p:transition spd="slow" advTm="41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8"/>
                </p:tgtEl>
              </p:cMediaNode>
            </p:audio>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51B5F1-A597-C8E8-9CCF-36B1BB88D984}"/>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DB4CC01-3A27-7215-FDF9-86D5F6C9B0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3F24C2A9-B338-3BC7-FAEB-EF3E790DD5CB}"/>
              </a:ext>
            </a:extLst>
          </p:cNvPr>
          <p:cNvPicPr>
            <a:picLocks noChangeAspect="1"/>
          </p:cNvPicPr>
          <p:nvPr/>
        </p:nvPicPr>
        <p:blipFill>
          <a:blip r:embed="rId4">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8199470E-9A66-60C5-37A5-7513B292DA10}"/>
              </a:ext>
            </a:extLst>
          </p:cNvPr>
          <p:cNvSpPr>
            <a:spLocks noGrp="1"/>
          </p:cNvSpPr>
          <p:nvPr>
            <p:ph type="ctrTitle"/>
          </p:nvPr>
        </p:nvSpPr>
        <p:spPr>
          <a:xfrm>
            <a:off x="640080" y="985234"/>
            <a:ext cx="6553934" cy="1148368"/>
          </a:xfrm>
        </p:spPr>
        <p:txBody>
          <a:bodyPr anchor="t">
            <a:normAutofit/>
          </a:bodyPr>
          <a:lstStyle/>
          <a:p>
            <a:r>
              <a:rPr lang="en-US" sz="6000" b="0" dirty="0">
                <a:solidFill>
                  <a:srgbClr val="FFFFFF"/>
                </a:solidFill>
              </a:rPr>
              <a:t>EDA - Titles</a:t>
            </a:r>
          </a:p>
        </p:txBody>
      </p:sp>
      <p:sp>
        <p:nvSpPr>
          <p:cNvPr id="6" name="Subtitle 5">
            <a:extLst>
              <a:ext uri="{FF2B5EF4-FFF2-40B4-BE49-F238E27FC236}">
                <a16:creationId xmlns:a16="http://schemas.microsoft.com/office/drawing/2014/main" id="{0BC72A26-AC4E-9B60-8BFA-8AF925C6E210}"/>
              </a:ext>
            </a:extLst>
          </p:cNvPr>
          <p:cNvSpPr>
            <a:spLocks noGrp="1"/>
          </p:cNvSpPr>
          <p:nvPr>
            <p:ph type="subTitle" idx="1"/>
          </p:nvPr>
        </p:nvSpPr>
        <p:spPr>
          <a:xfrm>
            <a:off x="7661564" y="1579417"/>
            <a:ext cx="3817204" cy="4776925"/>
          </a:xfrm>
        </p:spPr>
        <p:txBody>
          <a:bodyPr anchor="t">
            <a:normAutofit/>
          </a:bodyPr>
          <a:lstStyle/>
          <a:p>
            <a:pPr marL="285750" indent="-285750">
              <a:buFont typeface="Arial" panose="020B0604020202020204" pitchFamily="34" charset="0"/>
              <a:buChar char="•"/>
            </a:pPr>
            <a:r>
              <a:rPr lang="en-US" dirty="0">
                <a:solidFill>
                  <a:srgbClr val="FFFFFF"/>
                </a:solidFill>
              </a:rPr>
              <a:t>Titles contained our primary text or gateway into the writing style of fake news. </a:t>
            </a:r>
          </a:p>
          <a:p>
            <a:pPr marL="285750" indent="-285750">
              <a:buFont typeface="Arial" panose="020B0604020202020204" pitchFamily="34" charset="0"/>
              <a:buChar char="•"/>
            </a:pPr>
            <a:r>
              <a:rPr lang="en-US" dirty="0">
                <a:solidFill>
                  <a:srgbClr val="FFFFFF"/>
                </a:solidFill>
              </a:rPr>
              <a:t>Certain characteristics were noted, such as the excessive use of capitalizations and exclamation marks</a:t>
            </a:r>
          </a:p>
          <a:p>
            <a:pPr marL="285750" indent="-285750">
              <a:buFont typeface="Arial" panose="020B0604020202020204" pitchFamily="34" charset="0"/>
              <a:buChar char="•"/>
            </a:pPr>
            <a:endParaRPr lang="en-US" dirty="0">
              <a:solidFill>
                <a:srgbClr val="FFFFFF"/>
              </a:solidFill>
            </a:endParaRPr>
          </a:p>
        </p:txBody>
      </p:sp>
      <p:cxnSp>
        <p:nvCxnSpPr>
          <p:cNvPr id="29" name="Straight Connector 28">
            <a:extLst>
              <a:ext uri="{FF2B5EF4-FFF2-40B4-BE49-F238E27FC236}">
                <a16:creationId xmlns:a16="http://schemas.microsoft.com/office/drawing/2014/main" id="{FDAD6E36-75CB-ED69-B1D1-5B559C70FC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comparison of a number of capital/major citys&#10;&#10;AI-generated content may be incorrect.">
            <a:extLst>
              <a:ext uri="{FF2B5EF4-FFF2-40B4-BE49-F238E27FC236}">
                <a16:creationId xmlns:a16="http://schemas.microsoft.com/office/drawing/2014/main" id="{E6E70633-E9E1-C6B3-1C1D-7B38D3EAD075}"/>
              </a:ext>
            </a:extLst>
          </p:cNvPr>
          <p:cNvPicPr>
            <a:picLocks noChangeAspect="1"/>
          </p:cNvPicPr>
          <p:nvPr/>
        </p:nvPicPr>
        <p:blipFill>
          <a:blip r:embed="rId5"/>
          <a:stretch>
            <a:fillRect/>
          </a:stretch>
        </p:blipFill>
        <p:spPr>
          <a:xfrm>
            <a:off x="345209" y="2333045"/>
            <a:ext cx="7219373" cy="3810000"/>
          </a:xfrm>
          <a:prstGeom prst="rect">
            <a:avLst/>
          </a:prstGeom>
        </p:spPr>
      </p:pic>
      <p:pic>
        <p:nvPicPr>
          <p:cNvPr id="7" name="Audio 6">
            <a:extLst>
              <a:ext uri="{FF2B5EF4-FFF2-40B4-BE49-F238E27FC236}">
                <a16:creationId xmlns:a16="http://schemas.microsoft.com/office/drawing/2014/main" id="{C79E45CE-652B-2546-F714-9A6BD67C4D5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20096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1509"/>
    </mc:Choice>
    <mc:Fallback xmlns="">
      <p:transition spd="slow" advTm="315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7AF4C4-D9EB-969A-7694-8EE7E2441996}"/>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7FF349F-5F73-B987-24E4-220C975C5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00369BF4-B81C-2262-0225-813CC4B004C8}"/>
              </a:ext>
            </a:extLst>
          </p:cNvPr>
          <p:cNvPicPr>
            <a:picLocks noChangeAspect="1"/>
          </p:cNvPicPr>
          <p:nvPr/>
        </p:nvPicPr>
        <p:blipFill>
          <a:blip r:embed="rId4">
            <a:alphaModFix amt="40000"/>
          </a:blip>
          <a:srcRect t="964" r="9091" b="2242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34954DCA-5E27-9FF1-55D0-D51D0112F2BC}"/>
              </a:ext>
            </a:extLst>
          </p:cNvPr>
          <p:cNvSpPr>
            <a:spLocks noGrp="1"/>
          </p:cNvSpPr>
          <p:nvPr>
            <p:ph type="ctrTitle"/>
          </p:nvPr>
        </p:nvSpPr>
        <p:spPr>
          <a:xfrm>
            <a:off x="640080" y="985234"/>
            <a:ext cx="6553934" cy="1148368"/>
          </a:xfrm>
        </p:spPr>
        <p:txBody>
          <a:bodyPr anchor="t">
            <a:normAutofit/>
          </a:bodyPr>
          <a:lstStyle/>
          <a:p>
            <a:r>
              <a:rPr lang="en-US" sz="6000" b="0" dirty="0">
                <a:solidFill>
                  <a:srgbClr val="FFFFFF"/>
                </a:solidFill>
              </a:rPr>
              <a:t>EDA - Titles</a:t>
            </a:r>
          </a:p>
        </p:txBody>
      </p:sp>
      <p:sp>
        <p:nvSpPr>
          <p:cNvPr id="6" name="Subtitle 5">
            <a:extLst>
              <a:ext uri="{FF2B5EF4-FFF2-40B4-BE49-F238E27FC236}">
                <a16:creationId xmlns:a16="http://schemas.microsoft.com/office/drawing/2014/main" id="{565B97EC-6345-6754-AC84-FECCE3C22E06}"/>
              </a:ext>
            </a:extLst>
          </p:cNvPr>
          <p:cNvSpPr>
            <a:spLocks noGrp="1"/>
          </p:cNvSpPr>
          <p:nvPr>
            <p:ph type="subTitle" idx="1"/>
          </p:nvPr>
        </p:nvSpPr>
        <p:spPr>
          <a:xfrm>
            <a:off x="6833408" y="1579417"/>
            <a:ext cx="4645360" cy="4776925"/>
          </a:xfrm>
        </p:spPr>
        <p:txBody>
          <a:bodyPr anchor="t">
            <a:normAutofit/>
          </a:bodyPr>
          <a:lstStyle/>
          <a:p>
            <a:pPr marL="285750" indent="-285750">
              <a:buFont typeface="Arial" panose="020B0604020202020204" pitchFamily="34" charset="0"/>
              <a:buChar char="•"/>
            </a:pPr>
            <a:r>
              <a:rPr lang="en-US" dirty="0">
                <a:solidFill>
                  <a:srgbClr val="FFFFFF"/>
                </a:solidFill>
              </a:rPr>
              <a:t>Sentiment analysis was measured using </a:t>
            </a:r>
            <a:r>
              <a:rPr lang="en-US" dirty="0" err="1">
                <a:solidFill>
                  <a:srgbClr val="FFFFFF"/>
                </a:solidFill>
              </a:rPr>
              <a:t>Textblob</a:t>
            </a:r>
            <a:r>
              <a:rPr lang="en-US" dirty="0">
                <a:solidFill>
                  <a:srgbClr val="FFFFFF"/>
                </a:solidFill>
              </a:rPr>
              <a:t> and </a:t>
            </a:r>
            <a:r>
              <a:rPr lang="en-US" dirty="0" err="1">
                <a:solidFill>
                  <a:srgbClr val="FFFFFF"/>
                </a:solidFill>
              </a:rPr>
              <a:t>vader</a:t>
            </a:r>
            <a:endParaRPr lang="en-US" dirty="0">
              <a:solidFill>
                <a:srgbClr val="FFFFFF"/>
              </a:solidFill>
            </a:endParaRPr>
          </a:p>
          <a:p>
            <a:pPr marL="285750" indent="-285750">
              <a:buFont typeface="Arial" panose="020B0604020202020204" pitchFamily="34" charset="0"/>
              <a:buChar char="•"/>
            </a:pPr>
            <a:r>
              <a:rPr lang="en-US" dirty="0">
                <a:solidFill>
                  <a:srgbClr val="FFFFFF"/>
                </a:solidFill>
              </a:rPr>
              <a:t>Both passed the t-test as they had values below 0.05, but </a:t>
            </a:r>
            <a:r>
              <a:rPr lang="en-US" dirty="0" err="1">
                <a:solidFill>
                  <a:srgbClr val="FFFFFF"/>
                </a:solidFill>
              </a:rPr>
              <a:t>vader</a:t>
            </a:r>
            <a:r>
              <a:rPr lang="en-US" dirty="0">
                <a:solidFill>
                  <a:srgbClr val="FFFFFF"/>
                </a:solidFill>
              </a:rPr>
              <a:t> excelled at discerning between the sentiments. It classified fake news as significantly more negative.</a:t>
            </a:r>
          </a:p>
        </p:txBody>
      </p:sp>
      <p:cxnSp>
        <p:nvCxnSpPr>
          <p:cNvPr id="29" name="Straight Connector 28">
            <a:extLst>
              <a:ext uri="{FF2B5EF4-FFF2-40B4-BE49-F238E27FC236}">
                <a16:creationId xmlns:a16="http://schemas.microsoft.com/office/drawing/2014/main" id="{48E75568-CF56-B311-C294-AF666A91EC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0CB6847-C6F9-C36E-AD50-5532014E0120}"/>
              </a:ext>
            </a:extLst>
          </p:cNvPr>
          <p:cNvPicPr>
            <a:picLocks noChangeAspect="1"/>
          </p:cNvPicPr>
          <p:nvPr/>
        </p:nvPicPr>
        <p:blipFill>
          <a:blip r:embed="rId5"/>
          <a:stretch>
            <a:fillRect/>
          </a:stretch>
        </p:blipFill>
        <p:spPr>
          <a:xfrm>
            <a:off x="446483" y="2037921"/>
            <a:ext cx="5940462" cy="4318421"/>
          </a:xfrm>
          <a:prstGeom prst="rect">
            <a:avLst/>
          </a:prstGeom>
        </p:spPr>
      </p:pic>
      <p:pic>
        <p:nvPicPr>
          <p:cNvPr id="7" name="Audio 6">
            <a:extLst>
              <a:ext uri="{FF2B5EF4-FFF2-40B4-BE49-F238E27FC236}">
                <a16:creationId xmlns:a16="http://schemas.microsoft.com/office/drawing/2014/main" id="{3C1059C9-45C6-4C81-D981-1EDF3F90678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8325656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2250"/>
    </mc:Choice>
    <mc:Fallback xmlns="">
      <p:transition spd="slow" advTm="22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261A8E-7FF4-A42D-74A2-12CB844C9F2C}"/>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BFCF7C2-FC4B-8B6C-B205-72A7651BA9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04C8D7B9-AD13-358A-8EE3-D4FA8F53B2A3}"/>
              </a:ext>
            </a:extLst>
          </p:cNvPr>
          <p:cNvPicPr>
            <a:picLocks noChangeAspect="1"/>
          </p:cNvPicPr>
          <p:nvPr/>
        </p:nvPicPr>
        <p:blipFill>
          <a:blip r:embed="rId5">
            <a:alphaModFix amt="40000"/>
          </a:blip>
          <a:srcRect t="964" r="9091" b="22428"/>
          <a:stretch>
            <a:fillRect/>
          </a:stretch>
        </p:blipFill>
        <p:spPr>
          <a:xfrm>
            <a:off x="0" y="152"/>
            <a:ext cx="12191980" cy="6857848"/>
          </a:xfrm>
          <a:prstGeom prst="rect">
            <a:avLst/>
          </a:prstGeom>
        </p:spPr>
      </p:pic>
      <p:sp>
        <p:nvSpPr>
          <p:cNvPr id="2" name="Title 1">
            <a:extLst>
              <a:ext uri="{FF2B5EF4-FFF2-40B4-BE49-F238E27FC236}">
                <a16:creationId xmlns:a16="http://schemas.microsoft.com/office/drawing/2014/main" id="{85CE1606-F388-6ACA-4818-C63CC54EB356}"/>
              </a:ext>
            </a:extLst>
          </p:cNvPr>
          <p:cNvSpPr>
            <a:spLocks noGrp="1"/>
          </p:cNvSpPr>
          <p:nvPr>
            <p:ph type="ctrTitle"/>
          </p:nvPr>
        </p:nvSpPr>
        <p:spPr>
          <a:xfrm>
            <a:off x="713232" y="611161"/>
            <a:ext cx="6553934" cy="1148368"/>
          </a:xfrm>
        </p:spPr>
        <p:txBody>
          <a:bodyPr anchor="t">
            <a:normAutofit/>
          </a:bodyPr>
          <a:lstStyle/>
          <a:p>
            <a:r>
              <a:rPr lang="en-US" sz="6000" b="0" dirty="0">
                <a:solidFill>
                  <a:srgbClr val="FFFFFF"/>
                </a:solidFill>
              </a:rPr>
              <a:t>Modeling </a:t>
            </a:r>
          </a:p>
        </p:txBody>
      </p:sp>
      <p:sp>
        <p:nvSpPr>
          <p:cNvPr id="6" name="Subtitle 5">
            <a:extLst>
              <a:ext uri="{FF2B5EF4-FFF2-40B4-BE49-F238E27FC236}">
                <a16:creationId xmlns:a16="http://schemas.microsoft.com/office/drawing/2014/main" id="{70F9EEFE-DCFD-B775-ED2A-1E4968C01D83}"/>
              </a:ext>
            </a:extLst>
          </p:cNvPr>
          <p:cNvSpPr>
            <a:spLocks noGrp="1"/>
          </p:cNvSpPr>
          <p:nvPr>
            <p:ph type="subTitle" idx="1"/>
          </p:nvPr>
        </p:nvSpPr>
        <p:spPr>
          <a:xfrm>
            <a:off x="1828800" y="1903632"/>
            <a:ext cx="9649968" cy="4452710"/>
          </a:xfrm>
        </p:spPr>
        <p:txBody>
          <a:bodyPr anchor="t">
            <a:normAutofit/>
          </a:bodyPr>
          <a:lstStyle/>
          <a:p>
            <a:pPr marL="285750" indent="-285750">
              <a:buFont typeface="Arial" panose="020B0604020202020204" pitchFamily="34" charset="0"/>
              <a:buChar char="•"/>
            </a:pPr>
            <a:r>
              <a:rPr lang="en-US" dirty="0">
                <a:solidFill>
                  <a:srgbClr val="FFFFFF"/>
                </a:solidFill>
              </a:rPr>
              <a:t>For training, we created a data pipeline for preparing data. Categorical data was encoded whilst numerical data was passed through. Text data was processed using </a:t>
            </a:r>
            <a:r>
              <a:rPr lang="en-US" dirty="0" err="1">
                <a:solidFill>
                  <a:srgbClr val="FFFFFF"/>
                </a:solidFill>
              </a:rPr>
              <a:t>tfid</a:t>
            </a:r>
            <a:r>
              <a:rPr lang="en-US" dirty="0">
                <a:solidFill>
                  <a:srgbClr val="FFFFFF"/>
                </a:solidFill>
              </a:rPr>
              <a:t> vectorization.</a:t>
            </a:r>
          </a:p>
          <a:p>
            <a:pPr marL="285750" indent="-285750">
              <a:buFont typeface="Arial" panose="020B0604020202020204" pitchFamily="34" charset="0"/>
              <a:buChar char="•"/>
            </a:pPr>
            <a:r>
              <a:rPr lang="en-US" dirty="0">
                <a:solidFill>
                  <a:srgbClr val="FFFFFF"/>
                </a:solidFill>
              </a:rPr>
              <a:t>We experimented with three different model types, following the suggestion of a similar fake news study by Elsa Norman. </a:t>
            </a:r>
          </a:p>
          <a:p>
            <a:pPr marL="742950" lvl="1" indent="-285750" algn="l">
              <a:buFont typeface="Arial" panose="020B0604020202020204" pitchFamily="34" charset="0"/>
              <a:buChar char="•"/>
            </a:pPr>
            <a:r>
              <a:rPr lang="en-US" dirty="0" err="1">
                <a:solidFill>
                  <a:srgbClr val="FFFFFF"/>
                </a:solidFill>
              </a:rPr>
              <a:t>XGBoost</a:t>
            </a:r>
            <a:r>
              <a:rPr lang="en-US" dirty="0">
                <a:solidFill>
                  <a:srgbClr val="FFFFFF"/>
                </a:solidFill>
              </a:rPr>
              <a:t> – Gradient boost handling various forms of data types</a:t>
            </a:r>
          </a:p>
          <a:p>
            <a:pPr marL="742950" lvl="1" indent="-285750" algn="l">
              <a:buFont typeface="Arial" panose="020B0604020202020204" pitchFamily="34" charset="0"/>
              <a:buChar char="•"/>
            </a:pPr>
            <a:r>
              <a:rPr lang="en-US" dirty="0">
                <a:solidFill>
                  <a:srgbClr val="FFFFFF"/>
                </a:solidFill>
              </a:rPr>
              <a:t>Logistic Regression – Calibrated baseline, lightweight</a:t>
            </a:r>
          </a:p>
          <a:p>
            <a:pPr marL="742950" lvl="1" indent="-285750" algn="l">
              <a:buFont typeface="Arial" panose="020B0604020202020204" pitchFamily="34" charset="0"/>
              <a:buChar char="•"/>
            </a:pPr>
            <a:r>
              <a:rPr lang="en-US" dirty="0">
                <a:solidFill>
                  <a:srgbClr val="FFFFFF"/>
                </a:solidFill>
              </a:rPr>
              <a:t>Linear SVC – effective with text features</a:t>
            </a:r>
          </a:p>
        </p:txBody>
      </p:sp>
      <p:cxnSp>
        <p:nvCxnSpPr>
          <p:cNvPr id="29" name="Straight Connector 28">
            <a:extLst>
              <a:ext uri="{FF2B5EF4-FFF2-40B4-BE49-F238E27FC236}">
                <a16:creationId xmlns:a16="http://schemas.microsoft.com/office/drawing/2014/main" id="{EB699FA3-DBF4-91B3-140F-C9042389D4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Audio 4">
            <a:extLst>
              <a:ext uri="{FF2B5EF4-FFF2-40B4-BE49-F238E27FC236}">
                <a16:creationId xmlns:a16="http://schemas.microsoft.com/office/drawing/2014/main" id="{BA74699C-C223-232F-6222-9D008BBC1C3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26088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9173"/>
    </mc:Choice>
    <mc:Fallback xmlns="">
      <p:transition spd="slow" advTm="291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5"/>
                </p:tgtEl>
              </p:cMediaNode>
            </p:audio>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A55013-35A7-2E94-477C-290210520291}"/>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838538B-283B-6287-A475-AA1D86DBB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5B589352-CBA4-EDB9-D54E-A206A7951282}"/>
              </a:ext>
            </a:extLst>
          </p:cNvPr>
          <p:cNvPicPr>
            <a:picLocks noChangeAspect="1"/>
          </p:cNvPicPr>
          <p:nvPr/>
        </p:nvPicPr>
        <p:blipFill>
          <a:blip r:embed="rId4">
            <a:alphaModFix amt="40000"/>
          </a:blip>
          <a:srcRect t="964" r="9091" b="22428"/>
          <a:stretch>
            <a:fillRect/>
          </a:stretch>
        </p:blipFill>
        <p:spPr>
          <a:xfrm>
            <a:off x="0" y="152"/>
            <a:ext cx="12191980" cy="6857848"/>
          </a:xfrm>
          <a:prstGeom prst="rect">
            <a:avLst/>
          </a:prstGeom>
        </p:spPr>
      </p:pic>
      <p:sp>
        <p:nvSpPr>
          <p:cNvPr id="2" name="Title 1">
            <a:extLst>
              <a:ext uri="{FF2B5EF4-FFF2-40B4-BE49-F238E27FC236}">
                <a16:creationId xmlns:a16="http://schemas.microsoft.com/office/drawing/2014/main" id="{AEB5D952-D571-A204-5558-21D701B6EE50}"/>
              </a:ext>
            </a:extLst>
          </p:cNvPr>
          <p:cNvSpPr>
            <a:spLocks noGrp="1"/>
          </p:cNvSpPr>
          <p:nvPr>
            <p:ph type="ctrTitle"/>
          </p:nvPr>
        </p:nvSpPr>
        <p:spPr>
          <a:xfrm>
            <a:off x="713232" y="611161"/>
            <a:ext cx="6553934" cy="1148368"/>
          </a:xfrm>
        </p:spPr>
        <p:txBody>
          <a:bodyPr anchor="t">
            <a:normAutofit/>
          </a:bodyPr>
          <a:lstStyle/>
          <a:p>
            <a:r>
              <a:rPr lang="en-US" sz="6000" b="0" dirty="0">
                <a:solidFill>
                  <a:srgbClr val="FFFFFF"/>
                </a:solidFill>
              </a:rPr>
              <a:t>Modeling Results</a:t>
            </a:r>
          </a:p>
        </p:txBody>
      </p:sp>
      <p:cxnSp>
        <p:nvCxnSpPr>
          <p:cNvPr id="29" name="Straight Connector 28">
            <a:extLst>
              <a:ext uri="{FF2B5EF4-FFF2-40B4-BE49-F238E27FC236}">
                <a16:creationId xmlns:a16="http://schemas.microsoft.com/office/drawing/2014/main" id="{7861F7AA-864A-D2F5-772C-15E1A9656E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Subtitle 5">
            <a:extLst>
              <a:ext uri="{FF2B5EF4-FFF2-40B4-BE49-F238E27FC236}">
                <a16:creationId xmlns:a16="http://schemas.microsoft.com/office/drawing/2014/main" id="{863C1591-FCBC-FA9F-EB7B-CE1DC3838BB4}"/>
              </a:ext>
            </a:extLst>
          </p:cNvPr>
          <p:cNvSpPr>
            <a:spLocks noGrp="1"/>
          </p:cNvSpPr>
          <p:nvPr>
            <p:ph type="subTitle" idx="1"/>
          </p:nvPr>
        </p:nvSpPr>
        <p:spPr>
          <a:xfrm>
            <a:off x="1879450" y="2118472"/>
            <a:ext cx="4572000" cy="4343197"/>
          </a:xfrm>
        </p:spPr>
        <p:txBody>
          <a:bodyPr anchor="t">
            <a:normAutofit fontScale="85000" lnSpcReduction="10000"/>
          </a:bodyPr>
          <a:lstStyle/>
          <a:p>
            <a:pPr marL="285750" indent="-285750">
              <a:buFont typeface="Arial" panose="020B0604020202020204" pitchFamily="34" charset="0"/>
              <a:buChar char="•"/>
            </a:pPr>
            <a:r>
              <a:rPr lang="en-US" dirty="0">
                <a:solidFill>
                  <a:srgbClr val="FFFFFF"/>
                </a:solidFill>
              </a:rPr>
              <a:t>All models passed the threshold of 75%</a:t>
            </a:r>
          </a:p>
          <a:p>
            <a:pPr marL="285750" indent="-285750">
              <a:buFont typeface="Arial" panose="020B0604020202020204" pitchFamily="34" charset="0"/>
              <a:buChar char="•"/>
            </a:pPr>
            <a:r>
              <a:rPr lang="en-US" dirty="0" err="1">
                <a:solidFill>
                  <a:srgbClr val="FFFFFF"/>
                </a:solidFill>
              </a:rPr>
              <a:t>XGBoost</a:t>
            </a:r>
            <a:r>
              <a:rPr lang="en-US" dirty="0">
                <a:solidFill>
                  <a:srgbClr val="FFFFFF"/>
                </a:solidFill>
              </a:rPr>
              <a:t> struggled to predict fake news in 16% of cases.</a:t>
            </a:r>
          </a:p>
          <a:p>
            <a:pPr marL="285750" indent="-285750">
              <a:buFont typeface="Arial" panose="020B0604020202020204" pitchFamily="34" charset="0"/>
              <a:buChar char="•"/>
            </a:pPr>
            <a:r>
              <a:rPr lang="en-US" dirty="0">
                <a:solidFill>
                  <a:srgbClr val="FFFFFF"/>
                </a:solidFill>
              </a:rPr>
              <a:t>Logistic regression did slightly better, but Linear SVC maintained an almost 99% precision for predicting fake news.</a:t>
            </a:r>
          </a:p>
          <a:p>
            <a:pPr marL="285750" indent="-285750">
              <a:buFont typeface="Arial" panose="020B0604020202020204" pitchFamily="34" charset="0"/>
              <a:buChar char="•"/>
            </a:pPr>
            <a:r>
              <a:rPr lang="en-US" dirty="0">
                <a:solidFill>
                  <a:srgbClr val="FFFFFF"/>
                </a:solidFill>
              </a:rPr>
              <a:t>The modeling shows that fake news has predictable attributes, regardless of which model is used, though svc appears to be the winner.</a:t>
            </a:r>
          </a:p>
        </p:txBody>
      </p:sp>
      <p:pic>
        <p:nvPicPr>
          <p:cNvPr id="9" name="Picture 8" descr="A screenshot of a computer&#10;&#10;AI-generated content may be incorrect.">
            <a:extLst>
              <a:ext uri="{FF2B5EF4-FFF2-40B4-BE49-F238E27FC236}">
                <a16:creationId xmlns:a16="http://schemas.microsoft.com/office/drawing/2014/main" id="{2ACC735F-953B-2929-6383-6E302E89D1EF}"/>
              </a:ext>
            </a:extLst>
          </p:cNvPr>
          <p:cNvPicPr>
            <a:picLocks noChangeAspect="1"/>
          </p:cNvPicPr>
          <p:nvPr/>
        </p:nvPicPr>
        <p:blipFill>
          <a:blip r:embed="rId5"/>
          <a:stretch>
            <a:fillRect/>
          </a:stretch>
        </p:blipFill>
        <p:spPr>
          <a:xfrm>
            <a:off x="7454522" y="920750"/>
            <a:ext cx="3695700" cy="5016500"/>
          </a:xfrm>
          <a:prstGeom prst="rect">
            <a:avLst/>
          </a:prstGeom>
        </p:spPr>
      </p:pic>
      <p:pic>
        <p:nvPicPr>
          <p:cNvPr id="6" name="Audio 5">
            <a:extLst>
              <a:ext uri="{FF2B5EF4-FFF2-40B4-BE49-F238E27FC236}">
                <a16:creationId xmlns:a16="http://schemas.microsoft.com/office/drawing/2014/main" id="{22FDDD08-F88F-FFC6-F2F5-DBE55C92541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766710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9361"/>
    </mc:Choice>
    <mc:Fallback xmlns="">
      <p:transition spd="slow" advTm="393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6"/>
                </p:tgtEl>
              </p:cMediaNode>
            </p:audio>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541CB7-F5C8-962C-9637-65486AE8C61B}"/>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721BA54-77B6-10E9-AE75-57D6D84BE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D02166BD-CB15-7CB2-D68A-CBD3DA92EAF3}"/>
              </a:ext>
            </a:extLst>
          </p:cNvPr>
          <p:cNvPicPr>
            <a:picLocks noChangeAspect="1"/>
          </p:cNvPicPr>
          <p:nvPr/>
        </p:nvPicPr>
        <p:blipFill>
          <a:blip r:embed="rId4">
            <a:alphaModFix amt="40000"/>
          </a:blip>
          <a:srcRect t="964" r="9091" b="22428"/>
          <a:stretch>
            <a:fillRect/>
          </a:stretch>
        </p:blipFill>
        <p:spPr>
          <a:xfrm>
            <a:off x="0" y="152"/>
            <a:ext cx="12191980" cy="6857848"/>
          </a:xfrm>
          <a:prstGeom prst="rect">
            <a:avLst/>
          </a:prstGeom>
        </p:spPr>
      </p:pic>
      <p:sp>
        <p:nvSpPr>
          <p:cNvPr id="2" name="Title 1">
            <a:extLst>
              <a:ext uri="{FF2B5EF4-FFF2-40B4-BE49-F238E27FC236}">
                <a16:creationId xmlns:a16="http://schemas.microsoft.com/office/drawing/2014/main" id="{0A5AC5B5-40C0-F6E0-22E0-1C3FA5CD0E76}"/>
              </a:ext>
            </a:extLst>
          </p:cNvPr>
          <p:cNvSpPr>
            <a:spLocks noGrp="1"/>
          </p:cNvSpPr>
          <p:nvPr>
            <p:ph type="ctrTitle"/>
          </p:nvPr>
        </p:nvSpPr>
        <p:spPr>
          <a:xfrm>
            <a:off x="713232" y="611161"/>
            <a:ext cx="6553934" cy="1148368"/>
          </a:xfrm>
        </p:spPr>
        <p:txBody>
          <a:bodyPr anchor="t">
            <a:normAutofit/>
          </a:bodyPr>
          <a:lstStyle/>
          <a:p>
            <a:r>
              <a:rPr lang="en-US" sz="6000" b="0" dirty="0">
                <a:solidFill>
                  <a:srgbClr val="FFFFFF"/>
                </a:solidFill>
              </a:rPr>
              <a:t>Conclusions</a:t>
            </a:r>
          </a:p>
        </p:txBody>
      </p:sp>
      <p:sp>
        <p:nvSpPr>
          <p:cNvPr id="6" name="Subtitle 5">
            <a:extLst>
              <a:ext uri="{FF2B5EF4-FFF2-40B4-BE49-F238E27FC236}">
                <a16:creationId xmlns:a16="http://schemas.microsoft.com/office/drawing/2014/main" id="{2E620872-35BF-DA58-652B-8F94A30D42E4}"/>
              </a:ext>
            </a:extLst>
          </p:cNvPr>
          <p:cNvSpPr>
            <a:spLocks noGrp="1"/>
          </p:cNvSpPr>
          <p:nvPr>
            <p:ph type="subTitle" idx="1"/>
          </p:nvPr>
        </p:nvSpPr>
        <p:spPr>
          <a:xfrm>
            <a:off x="1828800" y="1903632"/>
            <a:ext cx="9649968" cy="4452710"/>
          </a:xfrm>
        </p:spPr>
        <p:txBody>
          <a:bodyPr anchor="t">
            <a:normAutofit fontScale="92500" lnSpcReduction="20000"/>
          </a:bodyPr>
          <a:lstStyle/>
          <a:p>
            <a:pPr marL="285750" indent="-285750">
              <a:buFont typeface="Arial" panose="020B0604020202020204" pitchFamily="34" charset="0"/>
              <a:buChar char="•"/>
            </a:pPr>
            <a:r>
              <a:rPr lang="en-US" dirty="0">
                <a:solidFill>
                  <a:srgbClr val="FFFFFF"/>
                </a:solidFill>
              </a:rPr>
              <a:t>Fake news has unique characteristics that can be exploited for identification. These identifications do not need to be robust or computationally expensive, but can instead rely on simple pieces of data, such as the </a:t>
            </a:r>
            <a:r>
              <a:rPr lang="en-US" dirty="0" err="1">
                <a:solidFill>
                  <a:srgbClr val="FFFFFF"/>
                </a:solidFill>
              </a:rPr>
              <a:t>url</a:t>
            </a:r>
            <a:r>
              <a:rPr lang="en-US" dirty="0">
                <a:solidFill>
                  <a:srgbClr val="FFFFFF"/>
                </a:solidFill>
              </a:rPr>
              <a:t> source and textual hints in the title.</a:t>
            </a:r>
          </a:p>
          <a:p>
            <a:pPr marL="285750" indent="-285750">
              <a:buFont typeface="Arial" panose="020B0604020202020204" pitchFamily="34" charset="0"/>
              <a:buChar char="•"/>
            </a:pPr>
            <a:r>
              <a:rPr lang="en-US" dirty="0">
                <a:solidFill>
                  <a:srgbClr val="FFFFFF"/>
                </a:solidFill>
              </a:rPr>
              <a:t>The analysis and modeling have shown disparities between the data. Because of the minimal data required, a full pipeline could be deployed to extract the title and </a:t>
            </a:r>
            <a:r>
              <a:rPr lang="en-US" dirty="0" err="1">
                <a:solidFill>
                  <a:srgbClr val="FFFFFF"/>
                </a:solidFill>
              </a:rPr>
              <a:t>url</a:t>
            </a:r>
            <a:r>
              <a:rPr lang="en-US" dirty="0">
                <a:solidFill>
                  <a:srgbClr val="FFFFFF"/>
                </a:solidFill>
              </a:rPr>
              <a:t> of fake news articles and flag them before they are shared on social media.</a:t>
            </a:r>
          </a:p>
          <a:p>
            <a:pPr marL="285750" indent="-285750">
              <a:buFont typeface="Arial" panose="020B0604020202020204" pitchFamily="34" charset="0"/>
              <a:buChar char="•"/>
            </a:pPr>
            <a:r>
              <a:rPr lang="en-US" dirty="0">
                <a:solidFill>
                  <a:srgbClr val="FFFFFF"/>
                </a:solidFill>
              </a:rPr>
              <a:t>The model itself is more like a ”spam” detector as it aims for key characteristics of text.</a:t>
            </a:r>
          </a:p>
          <a:p>
            <a:pPr marL="285750" indent="-285750">
              <a:buFont typeface="Arial" panose="020B0604020202020204" pitchFamily="34" charset="0"/>
              <a:buChar char="•"/>
            </a:pPr>
            <a:r>
              <a:rPr lang="en-US" dirty="0">
                <a:solidFill>
                  <a:srgbClr val="FFFFFF"/>
                </a:solidFill>
              </a:rPr>
              <a:t>The most important feature was the domain. </a:t>
            </a:r>
          </a:p>
          <a:p>
            <a:endParaRPr lang="en-US" dirty="0">
              <a:solidFill>
                <a:srgbClr val="FFFFFF"/>
              </a:solidFill>
            </a:endParaRPr>
          </a:p>
        </p:txBody>
      </p:sp>
      <p:cxnSp>
        <p:nvCxnSpPr>
          <p:cNvPr id="29" name="Straight Connector 28">
            <a:extLst>
              <a:ext uri="{FF2B5EF4-FFF2-40B4-BE49-F238E27FC236}">
                <a16:creationId xmlns:a16="http://schemas.microsoft.com/office/drawing/2014/main" id="{79A1F0C9-8713-06E2-C92E-44435E2B1B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1" name="Audio 10">
            <a:extLst>
              <a:ext uri="{FF2B5EF4-FFF2-40B4-BE49-F238E27FC236}">
                <a16:creationId xmlns:a16="http://schemas.microsoft.com/office/drawing/2014/main" id="{DE5D2F46-D0A2-3884-8D2D-AF50B45F24E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5830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63626"/>
    </mc:Choice>
    <mc:Fallback xmlns="">
      <p:transition spd="slow" advTm="636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1"/>
                </p:tgtEl>
              </p:cMediaNode>
            </p:audio>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36E0BA-AA52-01EF-6631-3C27D3E0549B}"/>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631D5FE-8BD1-635B-B063-6F5C574BE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2ACE79EF-C556-B8AC-70AC-FBE797C93919}"/>
              </a:ext>
            </a:extLst>
          </p:cNvPr>
          <p:cNvPicPr>
            <a:picLocks noChangeAspect="1"/>
          </p:cNvPicPr>
          <p:nvPr/>
        </p:nvPicPr>
        <p:blipFill>
          <a:blip r:embed="rId4">
            <a:alphaModFix amt="40000"/>
          </a:blip>
          <a:srcRect t="964" r="9091" b="22428"/>
          <a:stretch>
            <a:fillRect/>
          </a:stretch>
        </p:blipFill>
        <p:spPr>
          <a:xfrm>
            <a:off x="0" y="152"/>
            <a:ext cx="12191980" cy="6857848"/>
          </a:xfrm>
          <a:prstGeom prst="rect">
            <a:avLst/>
          </a:prstGeom>
        </p:spPr>
      </p:pic>
      <p:sp>
        <p:nvSpPr>
          <p:cNvPr id="2" name="Title 1">
            <a:extLst>
              <a:ext uri="{FF2B5EF4-FFF2-40B4-BE49-F238E27FC236}">
                <a16:creationId xmlns:a16="http://schemas.microsoft.com/office/drawing/2014/main" id="{EE095CEA-C116-8A31-EBB0-598E438C34F5}"/>
              </a:ext>
            </a:extLst>
          </p:cNvPr>
          <p:cNvSpPr>
            <a:spLocks noGrp="1"/>
          </p:cNvSpPr>
          <p:nvPr>
            <p:ph type="ctrTitle"/>
          </p:nvPr>
        </p:nvSpPr>
        <p:spPr>
          <a:xfrm>
            <a:off x="713232" y="611161"/>
            <a:ext cx="6553934" cy="1148368"/>
          </a:xfrm>
        </p:spPr>
        <p:txBody>
          <a:bodyPr anchor="t">
            <a:normAutofit/>
          </a:bodyPr>
          <a:lstStyle/>
          <a:p>
            <a:r>
              <a:rPr lang="en-US" sz="6000" b="0" dirty="0">
                <a:solidFill>
                  <a:srgbClr val="FFFFFF"/>
                </a:solidFill>
              </a:rPr>
              <a:t>Ethical Concerns</a:t>
            </a:r>
          </a:p>
        </p:txBody>
      </p:sp>
      <p:sp>
        <p:nvSpPr>
          <p:cNvPr id="6" name="Subtitle 5">
            <a:extLst>
              <a:ext uri="{FF2B5EF4-FFF2-40B4-BE49-F238E27FC236}">
                <a16:creationId xmlns:a16="http://schemas.microsoft.com/office/drawing/2014/main" id="{0159D9E5-D229-585E-B3CC-D24AAE0CC6BC}"/>
              </a:ext>
            </a:extLst>
          </p:cNvPr>
          <p:cNvSpPr>
            <a:spLocks noGrp="1"/>
          </p:cNvSpPr>
          <p:nvPr>
            <p:ph type="subTitle" idx="1"/>
          </p:nvPr>
        </p:nvSpPr>
        <p:spPr>
          <a:xfrm>
            <a:off x="1828800" y="1903632"/>
            <a:ext cx="9649968" cy="4452710"/>
          </a:xfrm>
        </p:spPr>
        <p:txBody>
          <a:bodyPr anchor="t">
            <a:normAutofit fontScale="85000" lnSpcReduction="20000"/>
          </a:bodyPr>
          <a:lstStyle/>
          <a:p>
            <a:pPr marL="285750" indent="-285750">
              <a:buFont typeface="Arial" panose="020B0604020202020204" pitchFamily="34" charset="0"/>
              <a:buChar char="•"/>
            </a:pPr>
            <a:r>
              <a:rPr lang="en-US" dirty="0">
                <a:solidFill>
                  <a:srgbClr val="FFFFFF"/>
                </a:solidFill>
              </a:rPr>
              <a:t>Free speech</a:t>
            </a:r>
          </a:p>
          <a:p>
            <a:pPr marL="742950" lvl="1" indent="-285750" algn="l">
              <a:buFont typeface="Arial" panose="020B0604020202020204" pitchFamily="34" charset="0"/>
              <a:buChar char="•"/>
            </a:pPr>
            <a:r>
              <a:rPr lang="en-US" dirty="0">
                <a:solidFill>
                  <a:srgbClr val="FFFFFF"/>
                </a:solidFill>
              </a:rPr>
              <a:t>Fake news is not the same as free speech. These news articles were not the result of someone sharing their opinion, but heavily manufactured news curated to achieve a purpose, such as shock or spam. Targeting spam from domains is not the same as silencing an individual sharing their opinions and beliefs.</a:t>
            </a:r>
          </a:p>
          <a:p>
            <a:pPr marL="285750" indent="-285750">
              <a:buFont typeface="Arial" panose="020B0604020202020204" pitchFamily="34" charset="0"/>
              <a:buChar char="•"/>
            </a:pPr>
            <a:r>
              <a:rPr lang="en-US" dirty="0">
                <a:solidFill>
                  <a:srgbClr val="FFFFFF"/>
                </a:solidFill>
              </a:rPr>
              <a:t>Financial</a:t>
            </a:r>
          </a:p>
          <a:p>
            <a:pPr marL="742950" lvl="1" indent="-285750" algn="l">
              <a:buFont typeface="Arial" panose="020B0604020202020204" pitchFamily="34" charset="0"/>
              <a:buChar char="•"/>
            </a:pPr>
            <a:r>
              <a:rPr lang="en-US" dirty="0">
                <a:solidFill>
                  <a:srgbClr val="FFFFFF"/>
                </a:solidFill>
              </a:rPr>
              <a:t>The engagement of fake news is higher than real news after controlling for outliers and standardization. This traffic incentivizes platforms such as X and Facebook to allow fake news because it increases the revenue they gain from advertising. It is unlikely that these businesses will be willing to reign in fake news because their competitors will gain that market.</a:t>
            </a:r>
          </a:p>
          <a:p>
            <a:pPr marL="285750" indent="-285750">
              <a:buFont typeface="Arial" panose="020B0604020202020204" pitchFamily="34" charset="0"/>
              <a:buChar char="•"/>
            </a:pPr>
            <a:r>
              <a:rPr lang="en-US" dirty="0">
                <a:solidFill>
                  <a:srgbClr val="FFFFFF"/>
                </a:solidFill>
              </a:rPr>
              <a:t>Security</a:t>
            </a:r>
          </a:p>
          <a:p>
            <a:pPr marL="742950" lvl="1" indent="-285750" algn="l">
              <a:buFont typeface="Arial" panose="020B0604020202020204" pitchFamily="34" charset="0"/>
              <a:buChar char="•"/>
            </a:pPr>
            <a:r>
              <a:rPr lang="en-US" dirty="0">
                <a:solidFill>
                  <a:srgbClr val="FFFFFF"/>
                </a:solidFill>
              </a:rPr>
              <a:t>Fake news consistently points to domains without basic security protocols. They are set up for scams to manipulate the gullible. </a:t>
            </a:r>
          </a:p>
          <a:p>
            <a:endParaRPr lang="en-US" dirty="0">
              <a:solidFill>
                <a:srgbClr val="FFFFFF"/>
              </a:solidFill>
            </a:endParaRPr>
          </a:p>
        </p:txBody>
      </p:sp>
      <p:cxnSp>
        <p:nvCxnSpPr>
          <p:cNvPr id="29" name="Straight Connector 28">
            <a:extLst>
              <a:ext uri="{FF2B5EF4-FFF2-40B4-BE49-F238E27FC236}">
                <a16:creationId xmlns:a16="http://schemas.microsoft.com/office/drawing/2014/main" id="{32767ED7-D2B6-EF15-26C4-58260969B5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Audio 6">
            <a:extLst>
              <a:ext uri="{FF2B5EF4-FFF2-40B4-BE49-F238E27FC236}">
                <a16:creationId xmlns:a16="http://schemas.microsoft.com/office/drawing/2014/main" id="{2C520834-3FC2-9DA5-6266-85FD977B55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738627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92085"/>
    </mc:Choice>
    <mc:Fallback xmlns="">
      <p:transition spd="slow" advTm="920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AC4CEA-2595-CE3D-D3C1-6A8193E4265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A6356E8-1B00-D01A-1373-765DAD584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Bluestone slates">
            <a:extLst>
              <a:ext uri="{FF2B5EF4-FFF2-40B4-BE49-F238E27FC236}">
                <a16:creationId xmlns:a16="http://schemas.microsoft.com/office/drawing/2014/main" id="{CC6C4051-CF59-2108-85F1-5AD0ACC4936D}"/>
              </a:ext>
            </a:extLst>
          </p:cNvPr>
          <p:cNvPicPr>
            <a:picLocks noChangeAspect="1"/>
          </p:cNvPicPr>
          <p:nvPr/>
        </p:nvPicPr>
        <p:blipFill>
          <a:blip r:embed="rId5">
            <a:alphaModFix amt="40000"/>
          </a:blip>
          <a:srcRect t="964" r="9091" b="22428"/>
          <a:stretch>
            <a:fillRect/>
          </a:stretch>
        </p:blipFill>
        <p:spPr>
          <a:xfrm>
            <a:off x="0" y="152"/>
            <a:ext cx="12191980" cy="6857848"/>
          </a:xfrm>
          <a:prstGeom prst="rect">
            <a:avLst/>
          </a:prstGeom>
        </p:spPr>
      </p:pic>
      <p:sp>
        <p:nvSpPr>
          <p:cNvPr id="2" name="Title 1">
            <a:extLst>
              <a:ext uri="{FF2B5EF4-FFF2-40B4-BE49-F238E27FC236}">
                <a16:creationId xmlns:a16="http://schemas.microsoft.com/office/drawing/2014/main" id="{1684B3C6-1CF3-552B-484B-58374F9200B6}"/>
              </a:ext>
            </a:extLst>
          </p:cNvPr>
          <p:cNvSpPr>
            <a:spLocks noGrp="1"/>
          </p:cNvSpPr>
          <p:nvPr>
            <p:ph type="ctrTitle"/>
          </p:nvPr>
        </p:nvSpPr>
        <p:spPr>
          <a:xfrm>
            <a:off x="713232" y="611161"/>
            <a:ext cx="6553934" cy="1148368"/>
          </a:xfrm>
        </p:spPr>
        <p:txBody>
          <a:bodyPr anchor="t">
            <a:normAutofit/>
          </a:bodyPr>
          <a:lstStyle/>
          <a:p>
            <a:r>
              <a:rPr lang="en-US" sz="6000" b="0" dirty="0">
                <a:solidFill>
                  <a:srgbClr val="FFFFFF"/>
                </a:solidFill>
              </a:rPr>
              <a:t>References</a:t>
            </a:r>
          </a:p>
        </p:txBody>
      </p:sp>
      <p:sp>
        <p:nvSpPr>
          <p:cNvPr id="6" name="Subtitle 5">
            <a:extLst>
              <a:ext uri="{FF2B5EF4-FFF2-40B4-BE49-F238E27FC236}">
                <a16:creationId xmlns:a16="http://schemas.microsoft.com/office/drawing/2014/main" id="{7EF969B5-8A08-0BEA-727E-BEE2306101CF}"/>
              </a:ext>
            </a:extLst>
          </p:cNvPr>
          <p:cNvSpPr>
            <a:spLocks noGrp="1"/>
          </p:cNvSpPr>
          <p:nvPr>
            <p:ph type="subTitle" idx="1"/>
          </p:nvPr>
        </p:nvSpPr>
        <p:spPr>
          <a:xfrm>
            <a:off x="1828800" y="1903632"/>
            <a:ext cx="9649968" cy="4452710"/>
          </a:xfrm>
        </p:spPr>
        <p:txBody>
          <a:bodyPr anchor="t">
            <a:normAutofit/>
          </a:bodyPr>
          <a:lstStyle/>
          <a:p>
            <a:r>
              <a:rPr lang="en-US" dirty="0"/>
              <a:t>Works Cited</a:t>
            </a:r>
          </a:p>
          <a:p>
            <a:r>
              <a:rPr lang="en-US" dirty="0"/>
              <a:t>Golovin, Aleksei. “Fake News.” </a:t>
            </a:r>
            <a:r>
              <a:rPr lang="en-US" i="1" dirty="0" err="1"/>
              <a:t>Www.kaggle.com</a:t>
            </a:r>
            <a:r>
              <a:rPr lang="en-US" dirty="0"/>
              <a:t>, 2021, </a:t>
            </a:r>
            <a:r>
              <a:rPr lang="en-US" dirty="0" err="1"/>
              <a:t>www.kaggle.com</a:t>
            </a:r>
            <a:r>
              <a:rPr lang="en-US" dirty="0"/>
              <a:t>/datasets/</a:t>
            </a:r>
            <a:r>
              <a:rPr lang="en-US" dirty="0" err="1"/>
              <a:t>algord</a:t>
            </a:r>
            <a:r>
              <a:rPr lang="en-US" dirty="0"/>
              <a:t>/fake-news.</a:t>
            </a:r>
          </a:p>
          <a:p>
            <a:r>
              <a:rPr lang="en-US" dirty="0"/>
              <a:t>Halyna </a:t>
            </a:r>
            <a:r>
              <a:rPr lang="en-US" dirty="0" err="1"/>
              <a:t>Padalko</a:t>
            </a:r>
            <a:r>
              <a:rPr lang="en-US" dirty="0"/>
              <a:t>, et al. “A Novel Approach to Fake News Classification Using LSTM-Based Deep Learning Models.” </a:t>
            </a:r>
            <a:r>
              <a:rPr lang="en-US" i="1" dirty="0"/>
              <a:t>Frontiers in Big Data</a:t>
            </a:r>
            <a:r>
              <a:rPr lang="en-US" dirty="0"/>
              <a:t>, vol. 6, no. 1320800, 8 Jan. 2024, https://</a:t>
            </a:r>
            <a:r>
              <a:rPr lang="en-US" dirty="0" err="1"/>
              <a:t>doi.org</a:t>
            </a:r>
            <a:r>
              <a:rPr lang="en-US" dirty="0"/>
              <a:t>/10.3389/fdata.2023.1320800.</a:t>
            </a:r>
          </a:p>
          <a:p>
            <a:r>
              <a:rPr lang="en-US" dirty="0"/>
              <a:t>Norman, Elsa. “Detecting Fake News Using Machine Learning.” </a:t>
            </a:r>
            <a:r>
              <a:rPr lang="en-US" i="1" dirty="0"/>
              <a:t>Journal of Student Research</a:t>
            </a:r>
            <a:r>
              <a:rPr lang="en-US" dirty="0"/>
              <a:t>, vol. 12, no. 1, 28 Feb. 2023, https://</a:t>
            </a:r>
            <a:r>
              <a:rPr lang="en-US" dirty="0" err="1"/>
              <a:t>doi.org</a:t>
            </a:r>
            <a:r>
              <a:rPr lang="en-US" dirty="0"/>
              <a:t>/10.47611/jsrhs.v12i1.3940. Accessed 5 May 2023.</a:t>
            </a:r>
          </a:p>
          <a:p>
            <a:endParaRPr lang="en-US" dirty="0">
              <a:solidFill>
                <a:srgbClr val="FFFFFF"/>
              </a:solidFill>
            </a:endParaRPr>
          </a:p>
        </p:txBody>
      </p:sp>
      <p:cxnSp>
        <p:nvCxnSpPr>
          <p:cNvPr id="29" name="Straight Connector 28">
            <a:extLst>
              <a:ext uri="{FF2B5EF4-FFF2-40B4-BE49-F238E27FC236}">
                <a16:creationId xmlns:a16="http://schemas.microsoft.com/office/drawing/2014/main" id="{6FF59076-EFC8-3B88-C580-42B9D58B92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Audio 6">
            <a:extLst>
              <a:ext uri="{FF2B5EF4-FFF2-40B4-BE49-F238E27FC236}">
                <a16:creationId xmlns:a16="http://schemas.microsoft.com/office/drawing/2014/main" id="{A8FC01F9-DC05-592C-ABD6-FA79B3F12ED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06407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4064"/>
    </mc:Choice>
    <mc:Fallback xmlns="">
      <p:transition spd="slow" advTm="240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bldLst>
      <p:bldP spid="2" grpId="0"/>
    </p:bld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6061</TotalTime>
  <Words>1218</Words>
  <Application>Microsoft Macintosh PowerPoint</Application>
  <PresentationFormat>Widescreen</PresentationFormat>
  <Paragraphs>78</Paragraphs>
  <Slides>14</Slides>
  <Notes>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Grandview Display</vt:lpstr>
      <vt:lpstr>DashVTI</vt:lpstr>
      <vt:lpstr>Fake News Classification DSC-680 Applied Data Science Professor Amirfarrokh Iranitalab </vt:lpstr>
      <vt:lpstr>Background</vt:lpstr>
      <vt:lpstr>Business Objective</vt:lpstr>
      <vt:lpstr>Data Collection</vt:lpstr>
      <vt:lpstr>Feature Analysis</vt:lpstr>
      <vt:lpstr>EDA – Tweet IDS</vt:lpstr>
      <vt:lpstr>EDA – URLs</vt:lpstr>
      <vt:lpstr>EDA - Titles</vt:lpstr>
      <vt:lpstr>EDA - Titles</vt:lpstr>
      <vt:lpstr>Modeling </vt:lpstr>
      <vt:lpstr>Modeling Results</vt:lpstr>
      <vt:lpstr>Conclusions</vt:lpstr>
      <vt:lpstr>Ethical Concerns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 Vance</dc:creator>
  <cp:lastModifiedBy>Gabriel Vance</cp:lastModifiedBy>
  <cp:revision>2</cp:revision>
  <dcterms:created xsi:type="dcterms:W3CDTF">2025-11-23T19:58:23Z</dcterms:created>
  <dcterms:modified xsi:type="dcterms:W3CDTF">2026-01-26T00:58:22Z</dcterms:modified>
</cp:coreProperties>
</file>
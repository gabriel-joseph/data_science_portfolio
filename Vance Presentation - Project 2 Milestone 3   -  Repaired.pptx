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18"/>
    <p:restoredTop sz="85290"/>
  </p:normalViewPr>
  <p:slideViewPr>
    <p:cSldViewPr snapToGrid="0">
      <p:cViewPr varScale="1">
        <p:scale>
          <a:sx n="83" d="100"/>
          <a:sy n="83" d="100"/>
        </p:scale>
        <p:origin x="22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91E04-7BB3-8542-A7E8-3993BD21480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459A-E0E8-0F4F-98D3-8456D0CBF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5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42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97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459A-E0E8-0F4F-98D3-8456D0CBF1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45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1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8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12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0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2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0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6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76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1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3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85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91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5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CE981F40-AD8C-6082-7BE1-38A0A3ECC73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42442B-6F93-1DBA-C007-EC0C7F0F0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1699" y="365300"/>
            <a:ext cx="7217561" cy="3355853"/>
          </a:xfrm>
        </p:spPr>
        <p:txBody>
          <a:bodyPr anchor="t">
            <a:normAutofit fontScale="90000"/>
          </a:bodyPr>
          <a:lstStyle/>
          <a:p>
            <a:r>
              <a:rPr dirty="0"/>
              <a:t>U.S. Elections and S&amp;P 500 Performance</a:t>
            </a:r>
          </a:p>
          <a:p>
            <a:r>
              <a:rPr dirty="0"/>
              <a:t>DSC 680 - Applied Data Science</a:t>
            </a:r>
          </a:p>
          <a:p>
            <a:r>
              <a:rPr dirty="0"/>
              <a:t>Professor </a:t>
            </a:r>
            <a:r>
              <a:rPr dirty="0" err="1"/>
              <a:t>Amirfarrokh</a:t>
            </a:r>
            <a:r>
              <a:rPr dirty="0"/>
              <a:t> </a:t>
            </a:r>
            <a:r>
              <a:rPr dirty="0" err="1"/>
              <a:t>Iranitalab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8083A-0E19-6866-8333-9169D9AD3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 fontScale="85000" lnSpcReduction="20000"/>
          </a:bodyPr>
          <a:lstStyle/>
          <a:p>
            <a:r>
              <a:t>Project 2 Milestone 3</a:t>
            </a:r>
          </a:p>
          <a:p>
            <a:r>
              <a:t>By Gabriel Vance</a:t>
            </a:r>
          </a:p>
          <a:p>
            <a:r>
              <a:t>February 2026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udio 5">
            <a:extLst>
              <a:ext uri="{FF2B5EF4-FFF2-40B4-BE49-F238E27FC236}">
                <a16:creationId xmlns:a16="http://schemas.microsoft.com/office/drawing/2014/main" id="{E812CEF2-89AF-7400-1CED-9A9A2C6700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1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13301"/>
    </mc:Choice>
    <mc:Fallback>
      <p:transition spd="slow" advTm="133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476EA-2DF0-ABC3-4CE0-F932E6AEC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E3E5F96F-498A-EC44-7DDE-CE7B49E0128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BACB83-BB53-FDEF-2B8C-3FC5554A3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t>Background / Context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6F86512-C2FD-E8DE-5422-BC4E6060C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2094" y="2656703"/>
            <a:ext cx="9786674" cy="3699639"/>
          </a:xfrm>
        </p:spPr>
        <p:txBody>
          <a:bodyPr anchor="t">
            <a:normAutofit/>
          </a:bodyPr>
          <a:lstStyle/>
          <a:p>
            <a:r>
              <a:rPr dirty="0"/>
              <a:t>The S&amp;P 500 is a benchmark for U.S. equity performance and reflects sentiment, inflation, employment, crises, and wealth creation.</a:t>
            </a:r>
          </a:p>
          <a:p>
            <a:r>
              <a:rPr dirty="0"/>
              <a:t>U.S. federal elections occur every 2 years and can shift party control.</a:t>
            </a:r>
          </a:p>
          <a:p>
            <a:r>
              <a:rPr dirty="0"/>
              <a:t>This study examines whether election timing and party alignment are associated with next-year market returns.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udio 7">
            <a:extLst>
              <a:ext uri="{FF2B5EF4-FFF2-40B4-BE49-F238E27FC236}">
                <a16:creationId xmlns:a16="http://schemas.microsoft.com/office/drawing/2014/main" id="{0F3FC3AD-BC84-9ECA-D37E-A6436B920F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1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47082"/>
    </mc:Choice>
    <mc:Fallback>
      <p:transition spd="slow" advTm="470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BA46E-52C0-FFC1-A3DA-85B9FD38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E46BB34-338A-D259-3107-41EFF16A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6EDCAB50-088C-367E-F145-A77F6B4EF5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60A9C9-66FC-230F-075E-4810FE9F9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t>Business Problem and Objective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E2AD71-5C9A-316E-7330-30082B233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8" y="2730843"/>
            <a:ext cx="9594550" cy="3625499"/>
          </a:xfrm>
        </p:spPr>
        <p:txBody>
          <a:bodyPr anchor="t">
            <a:normAutofit/>
          </a:bodyPr>
          <a:lstStyle/>
          <a:p>
            <a:r>
              <a:rPr dirty="0"/>
              <a:t>Goal: test whether election cycles and presidential party are useful signals for S&amp;P 500 performance.</a:t>
            </a:r>
          </a:p>
          <a:p>
            <a:r>
              <a:rPr dirty="0"/>
              <a:t>Question 1: Do non-election, midterm, and presidential years show different return patterns?</a:t>
            </a:r>
          </a:p>
          <a:p>
            <a:r>
              <a:rPr dirty="0"/>
              <a:t>Question 2: Are returns meaningfully different under Democratic vs Republican administrations?</a:t>
            </a:r>
          </a:p>
          <a:p>
            <a:r>
              <a:rPr dirty="0"/>
              <a:t>Outcome: quantify correlation, not trading advice.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097CC1-EFF7-FF20-C1F3-69B5C27F4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udio 7">
            <a:extLst>
              <a:ext uri="{FF2B5EF4-FFF2-40B4-BE49-F238E27FC236}">
                <a16:creationId xmlns:a16="http://schemas.microsoft.com/office/drawing/2014/main" id="{77BBC2C0-1B05-B8DF-1867-5B66456A6D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92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39296"/>
    </mc:Choice>
    <mc:Fallback>
      <p:transition spd="slow" advTm="392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4CEE9-5541-2C6D-885D-E6EC9CC1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54443D5-3D2F-4D8A-BCBE-D98A74481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AAABAD61-3710-783C-7247-B7241D50C86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69C1E7-5221-832B-F688-083B13B32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t>Data Sources and Preparation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1485EB6-6483-A78C-4FD6-3172D7C25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8" y="2891481"/>
            <a:ext cx="9594550" cy="3464861"/>
          </a:xfrm>
        </p:spPr>
        <p:txBody>
          <a:bodyPr anchor="t">
            <a:normAutofit/>
          </a:bodyPr>
          <a:lstStyle/>
          <a:p>
            <a:r>
              <a:rPr dirty="0"/>
              <a:t>S&amp;P 500 prices: </a:t>
            </a:r>
            <a:r>
              <a:rPr dirty="0" err="1"/>
              <a:t>yfinance</a:t>
            </a:r>
            <a:r>
              <a:rPr dirty="0"/>
              <a:t> symbol ^GSPC.</a:t>
            </a:r>
          </a:p>
          <a:p>
            <a:r>
              <a:rPr dirty="0"/>
              <a:t>Returns: January-to-January year-over-year performance.</a:t>
            </a:r>
          </a:p>
          <a:p>
            <a:r>
              <a:rPr lang="en-US" dirty="0"/>
              <a:t>ELECTION</a:t>
            </a:r>
            <a:r>
              <a:rPr dirty="0"/>
              <a:t> labels: manually curated from 270toWin historical election maps.</a:t>
            </a:r>
          </a:p>
          <a:p>
            <a:r>
              <a:rPr dirty="0"/>
              <a:t>Join key: year, then merge return series with election-cycle and party labels.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B93CD9-010F-193C-1DA1-8A222FAB9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Audio 15">
            <a:extLst>
              <a:ext uri="{FF2B5EF4-FFF2-40B4-BE49-F238E27FC236}">
                <a16:creationId xmlns:a16="http://schemas.microsoft.com/office/drawing/2014/main" id="{7D463970-1EF9-64F3-EFD6-6BED62D1DE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00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55370"/>
    </mc:Choice>
    <mc:Fallback>
      <p:transition spd="slow" advTm="553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345C9-5CF5-025C-A070-36EDC840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DE3A9D9-E829-11B5-A987-9ED8C92F0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D82E329D-E0E5-83F1-5367-7E7BB41D1ED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C37508-7F5D-BA51-F4B0-8124E5633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9594550" cy="1148368"/>
          </a:xfrm>
        </p:spPr>
        <p:txBody>
          <a:bodyPr anchor="t">
            <a:normAutofit/>
          </a:bodyPr>
          <a:lstStyle/>
          <a:p>
            <a:r>
              <a:rPr dirty="0"/>
              <a:t>Election Cycle Grouping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F0797E7-4690-D1A0-8EA5-00B9FE0E1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8" y="2133601"/>
            <a:ext cx="9594550" cy="4222742"/>
          </a:xfrm>
        </p:spPr>
        <p:txBody>
          <a:bodyPr anchor="t">
            <a:normAutofit/>
          </a:bodyPr>
          <a:lstStyle/>
          <a:p>
            <a:r>
              <a:rPr dirty="0"/>
              <a:t>Study window starts in 1950.</a:t>
            </a:r>
          </a:p>
          <a:p>
            <a:r>
              <a:rPr dirty="0"/>
              <a:t>Year groups:</a:t>
            </a:r>
          </a:p>
          <a:p>
            <a:r>
              <a:rPr dirty="0"/>
              <a:t>- 38 non-election years</a:t>
            </a:r>
          </a:p>
          <a:p>
            <a:r>
              <a:rPr dirty="0"/>
              <a:t>- 19 midterm years</a:t>
            </a:r>
          </a:p>
          <a:p>
            <a:r>
              <a:rPr dirty="0"/>
              <a:t>- 19 presidential years</a:t>
            </a:r>
          </a:p>
          <a:p>
            <a:r>
              <a:rPr dirty="0"/>
              <a:t>These groups are compared with descriptive statistics and distribution plots.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E9B4B7-DDF8-AD8F-4660-6760E769E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udio 7">
            <a:extLst>
              <a:ext uri="{FF2B5EF4-FFF2-40B4-BE49-F238E27FC236}">
                <a16:creationId xmlns:a16="http://schemas.microsoft.com/office/drawing/2014/main" id="{3E296093-66FE-E745-BA2F-1D80E8ED91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38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30709"/>
    </mc:Choice>
    <mc:Fallback>
      <p:transition spd="slow" advTm="30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79857-0B72-9308-8F81-D8AC1E91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2800890-D54F-5D2D-68B3-414F15EC3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6A39E982-81C5-77EF-4CEA-84E7FAA8338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498A4-3D76-FABA-5DAE-98CCC04E6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9903062" cy="1148368"/>
          </a:xfrm>
        </p:spPr>
        <p:txBody>
          <a:bodyPr anchor="t">
            <a:normAutofit/>
          </a:bodyPr>
          <a:lstStyle/>
          <a:p>
            <a:r>
              <a:t>Cycle-Level Return Patterns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9574F85-18C3-B648-27B2-69B678470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8" y="2699133"/>
            <a:ext cx="9594550" cy="3657209"/>
          </a:xfrm>
        </p:spPr>
        <p:txBody>
          <a:bodyPr anchor="t">
            <a:normAutofit/>
          </a:bodyPr>
          <a:lstStyle/>
          <a:p>
            <a:r>
              <a:t>Boxplots summarize distribution by election cycle.</a:t>
            </a:r>
          </a:p>
          <a:p>
            <a:r>
              <a:t>Non-election years show the strongest average performance.</a:t>
            </a:r>
          </a:p>
          <a:p>
            <a:r>
              <a:t>Midterm and presidential years have lower central tendency and wider dispersion.</a:t>
            </a:r>
          </a:p>
          <a:p>
            <a:r>
              <a:t>Result: cycle timing appears correlated with expected return levels.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02487B9-333E-BE90-40FA-85D715153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udio 7">
            <a:extLst>
              <a:ext uri="{FF2B5EF4-FFF2-40B4-BE49-F238E27FC236}">
                <a16:creationId xmlns:a16="http://schemas.microsoft.com/office/drawing/2014/main" id="{884C7551-CD20-DB90-D212-BA9584A583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0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51601"/>
    </mc:Choice>
    <mc:Fallback>
      <p:transition spd="slow" advTm="516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0B87A-8647-8B0F-F803-4C5D53A8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91173AD-8406-B1EF-D649-FEFF29EE2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66CAFC85-CAD3-86BF-9EFB-4A34264908B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3659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C6F7E8-EE10-6B23-1A9A-12016F89D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4992668" cy="1148368"/>
          </a:xfrm>
        </p:spPr>
        <p:txBody>
          <a:bodyPr anchor="t">
            <a:normAutofit fontScale="90000"/>
          </a:bodyPr>
          <a:lstStyle/>
          <a:p>
            <a:r>
              <a:rPr dirty="0"/>
              <a:t>Returns Over Time by Party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BE5DFE8-CDB8-CD9E-8BBC-82029495C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28823"/>
            <a:ext cx="5632749" cy="2630013"/>
          </a:xfrm>
        </p:spPr>
        <p:txBody>
          <a:bodyPr anchor="t">
            <a:normAutofit fontScale="62500" lnSpcReduction="20000"/>
          </a:bodyPr>
          <a:lstStyle/>
          <a:p>
            <a:r>
              <a:rPr dirty="0"/>
              <a:t>Line charts of annual returns by party show high volatility and noise.</a:t>
            </a:r>
          </a:p>
          <a:p>
            <a:r>
              <a:rPr dirty="0"/>
              <a:t>No consistent return edge appears for either party across decades.</a:t>
            </a:r>
          </a:p>
          <a:p>
            <a:r>
              <a:rPr dirty="0"/>
              <a:t>Large drawdowns around 2000, 2008, and 2022 coincide with incumbent-party backlash in elections.</a:t>
            </a:r>
          </a:p>
          <a:p>
            <a:r>
              <a:rPr dirty="0"/>
              <a:t>Interpretation: sentiment shocks may influence both markets and voting behavior.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AAFE59-EF54-B2DE-F2CF-63F189D16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7F3082F3-F8B3-5445-5718-31C7E6596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306" y="2898659"/>
            <a:ext cx="8181084" cy="3516840"/>
          </a:xfrm>
          <a:prstGeom prst="rect">
            <a:avLst/>
          </a:prstGeom>
        </p:spPr>
      </p:pic>
      <p:pic>
        <p:nvPicPr>
          <p:cNvPr id="12" name="Audio 11">
            <a:extLst>
              <a:ext uri="{FF2B5EF4-FFF2-40B4-BE49-F238E27FC236}">
                <a16:creationId xmlns:a16="http://schemas.microsoft.com/office/drawing/2014/main" id="{53C882CF-F989-E2FB-0D0E-445E3FCBEE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4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112416"/>
    </mc:Choice>
    <mc:Fallback>
      <p:transition spd="slow" advTm="1124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51B5F1-A597-C8E8-9CCF-36B1BB88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DB4CC01-3A27-7215-FDF9-86D5F6C9B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3F24C2A9-B338-3BC7-FAEB-EF3E790DD5C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9470E-9A66-60C5-37A5-7513B292D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4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t>Party Comparison and Statistical Test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BC72A26-AC4E-9B60-8BFA-8AF925C6E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5067" y="985234"/>
            <a:ext cx="3817204" cy="4776925"/>
          </a:xfrm>
        </p:spPr>
        <p:txBody>
          <a:bodyPr anchor="t">
            <a:normAutofit fontScale="92500" lnSpcReduction="10000"/>
          </a:bodyPr>
          <a:lstStyle/>
          <a:p>
            <a:r>
              <a:rPr dirty="0"/>
              <a:t>Average return by party:</a:t>
            </a:r>
          </a:p>
          <a:p>
            <a:r>
              <a:rPr dirty="0"/>
              <a:t>- Democrats: about +12%</a:t>
            </a:r>
          </a:p>
          <a:p>
            <a:r>
              <a:rPr dirty="0"/>
              <a:t>- Republicans: about +8%</a:t>
            </a:r>
          </a:p>
          <a:p>
            <a:r>
              <a:rPr dirty="0"/>
              <a:t>A t-test produced p = 0.19.</a:t>
            </a:r>
          </a:p>
          <a:p>
            <a:r>
              <a:rPr dirty="0"/>
              <a:t>Conclusion: the party difference is not statistically significant at conventional thresholds.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AD6E36-75CB-ED69-B1D1-5B559C70F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diagram with red and blue rectangles&#10;&#10;AI-generated content may be incorrect.">
            <a:extLst>
              <a:ext uri="{FF2B5EF4-FFF2-40B4-BE49-F238E27FC236}">
                <a16:creationId xmlns:a16="http://schemas.microsoft.com/office/drawing/2014/main" id="{F217BB86-1AE5-12A0-D769-787EB9E0B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52" y="2771041"/>
            <a:ext cx="4711044" cy="3544088"/>
          </a:xfrm>
          <a:prstGeom prst="rect">
            <a:avLst/>
          </a:prstGeom>
        </p:spPr>
      </p:pic>
      <p:pic>
        <p:nvPicPr>
          <p:cNvPr id="9" name="Audio 8">
            <a:extLst>
              <a:ext uri="{FF2B5EF4-FFF2-40B4-BE49-F238E27FC236}">
                <a16:creationId xmlns:a16="http://schemas.microsoft.com/office/drawing/2014/main" id="{40B8732A-7984-F7ED-8137-D235660D7F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9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77728"/>
    </mc:Choice>
    <mc:Fallback>
      <p:transition spd="slow" advTm="777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AF4C4-D9EB-969A-7694-8EE7E244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7FF349F-5F73-B987-24E4-220C975C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00369BF4-B81C-2262-0225-813CC4B004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54DCA-5E27-9FF1-55D0-D51D0112F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621235" cy="2065487"/>
          </a:xfrm>
        </p:spPr>
        <p:txBody>
          <a:bodyPr anchor="t">
            <a:normAutofit fontScale="90000"/>
          </a:bodyPr>
          <a:lstStyle/>
          <a:p>
            <a:r>
              <a:rPr dirty="0"/>
              <a:t>Incumbent-Loss Signal (Exploratory)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5B97EC-6345-6754-AC84-FECCE3C22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3408" y="1579417"/>
            <a:ext cx="4645360" cy="4776925"/>
          </a:xfrm>
        </p:spPr>
        <p:txBody>
          <a:bodyPr anchor="t">
            <a:normAutofit/>
          </a:bodyPr>
          <a:lstStyle/>
          <a:p>
            <a:r>
              <a:rPr dirty="0"/>
              <a:t>Exploratory view: severe market declines may increase odds of "throw the bums out" outcomes.</a:t>
            </a:r>
          </a:p>
          <a:p>
            <a:r>
              <a:rPr dirty="0"/>
              <a:t>Potential examples were noted in 2000, 2008, and 2022 cycles.</a:t>
            </a:r>
          </a:p>
          <a:p>
            <a:r>
              <a:rPr dirty="0"/>
              <a:t>This is an association, not proof of causation.</a:t>
            </a:r>
          </a:p>
          <a:p>
            <a:r>
              <a:rPr dirty="0"/>
              <a:t>Future work should formalize thresholds and test robustness.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E75568-CF56-B311-C294-AF666A91E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udio 7">
            <a:extLst>
              <a:ext uri="{FF2B5EF4-FFF2-40B4-BE49-F238E27FC236}">
                <a16:creationId xmlns:a16="http://schemas.microsoft.com/office/drawing/2014/main" id="{5BDB383C-7C3D-29F8-B58C-5D40291887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6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56960"/>
    </mc:Choice>
    <mc:Fallback>
      <p:transition spd="slow" advTm="56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61A8E-7FF4-A42D-74A2-12CB844C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BFCF7C2-FC4B-8B6C-B205-72A7651BA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04C8D7B9-AD13-358A-8EE3-D4FA8F53B2A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CE1606-F388-6ACA-4818-C63CC54EB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t>Current Cycle Implications (2026)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0F9EEFE-DCFD-B775-ED2A-1E4968C01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370538"/>
            <a:ext cx="9649968" cy="3985804"/>
          </a:xfrm>
        </p:spPr>
        <p:txBody>
          <a:bodyPr anchor="t">
            <a:normAutofit lnSpcReduction="10000"/>
          </a:bodyPr>
          <a:lstStyle/>
          <a:p>
            <a:r>
              <a:rPr dirty="0"/>
              <a:t>2026 is a U.S. midterm year.</a:t>
            </a:r>
          </a:p>
          <a:p>
            <a:r>
              <a:rPr dirty="0"/>
              <a:t>Historical midterm average return in this study is lower than non-election years.</a:t>
            </a:r>
          </a:p>
          <a:p>
            <a:r>
              <a:rPr dirty="0"/>
              <a:t>Recent context:</a:t>
            </a:r>
          </a:p>
          <a:p>
            <a:r>
              <a:rPr dirty="0"/>
              <a:t>- 2023: +24%</a:t>
            </a:r>
          </a:p>
          <a:p>
            <a:r>
              <a:rPr dirty="0"/>
              <a:t>- 2024: +25%</a:t>
            </a:r>
          </a:p>
          <a:p>
            <a:r>
              <a:rPr dirty="0"/>
              <a:t>- 2025: +17.9%</a:t>
            </a:r>
          </a:p>
          <a:p>
            <a:r>
              <a:rPr dirty="0"/>
              <a:t>Expectation: moderate returns are plausible, with wide uncertainty.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B699FA3-DBF4-91B3-140F-C9042389D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Audio 11">
            <a:extLst>
              <a:ext uri="{FF2B5EF4-FFF2-40B4-BE49-F238E27FC236}">
                <a16:creationId xmlns:a16="http://schemas.microsoft.com/office/drawing/2014/main" id="{6C32D596-A1DA-7A0C-1725-0A863CE017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88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36857"/>
    </mc:Choice>
    <mc:Fallback>
      <p:transition spd="slow" advTm="368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55013-35A7-2E94-477C-29021052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838538B-283B-6287-A475-AA1D86DBB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5B589352-CBA4-EDB9-D54E-A206A795128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B5D952-D571-A204-5558-21D701B6E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t>Key Findings Summary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861F7AA-864A-D2F5-772C-15E1A9656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5">
            <a:extLst>
              <a:ext uri="{FF2B5EF4-FFF2-40B4-BE49-F238E27FC236}">
                <a16:creationId xmlns:a16="http://schemas.microsoft.com/office/drawing/2014/main" id="{863C1591-FCBC-FA9F-EB7B-CE1DC3838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9450" y="2118472"/>
            <a:ext cx="4572000" cy="4343197"/>
          </a:xfrm>
        </p:spPr>
        <p:txBody>
          <a:bodyPr anchor="t">
            <a:normAutofit lnSpcReduction="10000"/>
          </a:bodyPr>
          <a:lstStyle/>
          <a:p>
            <a:r>
              <a:t>Non-election years average about +12%.</a:t>
            </a:r>
          </a:p>
          <a:p>
            <a:r>
              <a:t>Presidential election years average about +7.8%.</a:t>
            </a:r>
          </a:p>
          <a:p>
            <a:r>
              <a:t>Midterm years average about +4.8% with large variance (about -10% to +18%).</a:t>
            </a:r>
          </a:p>
          <a:p>
            <a:r>
              <a:t>Election-cycle differences appear stronger than party-only differences.</a:t>
            </a:r>
          </a:p>
        </p:txBody>
      </p:sp>
      <p:pic>
        <p:nvPicPr>
          <p:cNvPr id="4" name="Picture 3" descr="A diagram of a distribution of returns&#10;&#10;AI-generated content may be incorrect.">
            <a:extLst>
              <a:ext uri="{FF2B5EF4-FFF2-40B4-BE49-F238E27FC236}">
                <a16:creationId xmlns:a16="http://schemas.microsoft.com/office/drawing/2014/main" id="{C08DE3DB-E015-A6A0-D370-0E9E53247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137" y="1479550"/>
            <a:ext cx="5651500" cy="3618922"/>
          </a:xfrm>
          <a:prstGeom prst="rect">
            <a:avLst/>
          </a:prstGeo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9C3327C9-1B2C-73AD-39D5-E4D7E55801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71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46858"/>
    </mc:Choice>
    <mc:Fallback>
      <p:transition spd="slow" advTm="468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41CB7-F5C8-962C-9637-65486AE8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21BA54-77B6-10E9-AE75-57D6D84BE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D02166BD-CB15-7CB2-D68A-CBD3DA92EA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5AC5B5-40C0-F6E0-22E0-1C3FA5CD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6553934" cy="1148368"/>
          </a:xfrm>
        </p:spPr>
        <p:txBody>
          <a:bodyPr anchor="t">
            <a:normAutofit/>
          </a:bodyPr>
          <a:lstStyle/>
          <a:p>
            <a:r>
              <a:t>Conclusions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E620872-35BF-DA58-652B-8F94A30D4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903632"/>
            <a:ext cx="9649968" cy="4452710"/>
          </a:xfrm>
        </p:spPr>
        <p:txBody>
          <a:bodyPr anchor="t">
            <a:normAutofit/>
          </a:bodyPr>
          <a:lstStyle/>
          <a:p>
            <a:r>
              <a:t>Election timing shows meaningful correlation with return distribution.</a:t>
            </a:r>
          </a:p>
          <a:p>
            <a:r>
              <a:t>Party label alone is weaker and not statistically significant in this sample.</a:t>
            </a:r>
          </a:p>
          <a:p>
            <a:r>
              <a:t>Because data are historical records, measurement assumptions are limited.</a:t>
            </a:r>
          </a:p>
          <a:p>
            <a:r>
              <a:t>The framework is useful for scenario planning, not deterministic forecasting.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A1F0C9-8713-06E2-C92E-44435E2B1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Audio 10">
            <a:extLst>
              <a:ext uri="{FF2B5EF4-FFF2-40B4-BE49-F238E27FC236}">
                <a16:creationId xmlns:a16="http://schemas.microsoft.com/office/drawing/2014/main" id="{4ADAE424-5E0D-870A-2EBC-A1ED6497E2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0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63466"/>
    </mc:Choice>
    <mc:Fallback>
      <p:transition spd="slow" advTm="634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6E0BA-AA52-01EF-6631-3C27D3E0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31D5FE-8BD1-635B-B063-6F5C574B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2ACE79EF-C556-B8AC-70AC-FBE797C9391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95CEA-C116-8A31-EBB0-598E438C3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t>Limitations and Responsible Use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159D9E5-D229-585E-B3CC-D24AAE0C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743200"/>
            <a:ext cx="9649968" cy="3613141"/>
          </a:xfrm>
        </p:spPr>
        <p:txBody>
          <a:bodyPr anchor="t">
            <a:normAutofit/>
          </a:bodyPr>
          <a:lstStyle/>
          <a:p>
            <a:r>
              <a:rPr dirty="0"/>
              <a:t>Not investment advice: results describe historical relationships only.</a:t>
            </a:r>
          </a:p>
          <a:p>
            <a:r>
              <a:rPr dirty="0"/>
              <a:t>Sample size is limited for presidential-cycle inference.</a:t>
            </a:r>
          </a:p>
          <a:p>
            <a:r>
              <a:rPr dirty="0"/>
              <a:t>Macro drivers (rates, inflation, recessions, valuations) were not controlled here.</a:t>
            </a:r>
          </a:p>
          <a:p>
            <a:r>
              <a:rPr dirty="0"/>
              <a:t>Best use: risk awareness, hedging discussions, and hypothesis generation.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767ED7-D2B6-EF15-26C4-58260969B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Audio 6">
            <a:extLst>
              <a:ext uri="{FF2B5EF4-FFF2-40B4-BE49-F238E27FC236}">
                <a16:creationId xmlns:a16="http://schemas.microsoft.com/office/drawing/2014/main" id="{2EB02D8D-C157-CD6A-1232-D89232E3BE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27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34773"/>
    </mc:Choice>
    <mc:Fallback>
      <p:transition spd="slow" advTm="347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C4CEA-2595-CE3D-D3C1-6A8193E4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A6356E8-1B00-D01A-1373-765DAD584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Bluestone slates">
            <a:extLst>
              <a:ext uri="{FF2B5EF4-FFF2-40B4-BE49-F238E27FC236}">
                <a16:creationId xmlns:a16="http://schemas.microsoft.com/office/drawing/2014/main" id="{CC6C4051-CF59-2108-85F1-5AD0ACC4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964" r="9091" b="22428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84B3C6-1CF3-552B-484B-58374F920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611161"/>
            <a:ext cx="6553934" cy="1148368"/>
          </a:xfrm>
        </p:spPr>
        <p:txBody>
          <a:bodyPr anchor="t">
            <a:normAutofit fontScale="90000"/>
          </a:bodyPr>
          <a:lstStyle/>
          <a:p>
            <a:r>
              <a:rPr dirty="0"/>
              <a:t>References and Q&amp;A Focus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EF969B5-8A08-0BEA-727E-BEE230610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370538"/>
            <a:ext cx="9649968" cy="3985804"/>
          </a:xfrm>
        </p:spPr>
        <p:txBody>
          <a:bodyPr anchor="t">
            <a:normAutofit fontScale="85000" lnSpcReduction="10000"/>
          </a:bodyPr>
          <a:lstStyle/>
          <a:p>
            <a:r>
              <a:rPr dirty="0"/>
              <a:t>References from the milestone report:</a:t>
            </a:r>
          </a:p>
          <a:p>
            <a:r>
              <a:rPr dirty="0"/>
              <a:t>1. 270toWin historical U.S. presidential elections</a:t>
            </a:r>
          </a:p>
          <a:p>
            <a:r>
              <a:rPr dirty="0"/>
              <a:t>2. Capital Group midterm election market charts (2026)</a:t>
            </a:r>
          </a:p>
          <a:p>
            <a:r>
              <a:rPr dirty="0"/>
              <a:t>3. PFBT election cycle theory article</a:t>
            </a:r>
          </a:p>
          <a:p>
            <a:r>
              <a:rPr dirty="0"/>
              <a:t>4. WT Wealth Management whitepaper (2024)</a:t>
            </a:r>
          </a:p>
          <a:p>
            <a:endParaRPr dirty="0"/>
          </a:p>
          <a:p>
            <a:r>
              <a:rPr dirty="0"/>
              <a:t>Anticipated questions:</a:t>
            </a:r>
          </a:p>
          <a:p>
            <a:r>
              <a:rPr dirty="0"/>
              <a:t>- Why January-to-January returns?</a:t>
            </a:r>
          </a:p>
          <a:p>
            <a:r>
              <a:rPr dirty="0"/>
              <a:t>- How were transition years assigned by party?</a:t>
            </a:r>
          </a:p>
          <a:p>
            <a:r>
              <a:rPr dirty="0"/>
              <a:t>- How robust are conclusions after outlier and macro controls?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F59076-EFC8-3B88-C580-42B9D58B9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407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717</Words>
  <Application>Microsoft Macintosh PowerPoint</Application>
  <PresentationFormat>Widescreen</PresentationFormat>
  <Paragraphs>86</Paragraphs>
  <Slides>14</Slides>
  <Notes>14</Notes>
  <HiddenSlides>0</HiddenSlides>
  <MMClips>13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Grandview Display</vt:lpstr>
      <vt:lpstr>DashVTI</vt:lpstr>
      <vt:lpstr>U.S. Elections and S&amp;P 500 Performance DSC 680 - Applied Data Science Professor Amirfarrokh Iranitalab</vt:lpstr>
      <vt:lpstr>Background / Context</vt:lpstr>
      <vt:lpstr>Business Problem and Objective</vt:lpstr>
      <vt:lpstr>Data Sources and Preparation</vt:lpstr>
      <vt:lpstr>Election Cycle Grouping</vt:lpstr>
      <vt:lpstr>Cycle-Level Return Patterns</vt:lpstr>
      <vt:lpstr>Returns Over Time by Party</vt:lpstr>
      <vt:lpstr>Party Comparison and Statistical Test</vt:lpstr>
      <vt:lpstr>Incumbent-Loss Signal (Exploratory)</vt:lpstr>
      <vt:lpstr>Current Cycle Implications (2026)</vt:lpstr>
      <vt:lpstr>Key Findings Summary</vt:lpstr>
      <vt:lpstr>Conclusions</vt:lpstr>
      <vt:lpstr>Limitations and Responsible Use</vt:lpstr>
      <vt:lpstr>References and Q&amp;A Focus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Vance</dc:creator>
  <cp:lastModifiedBy>Gabriel Vance</cp:lastModifiedBy>
  <cp:revision>2</cp:revision>
  <dcterms:created xsi:type="dcterms:W3CDTF">2025-11-23T19:58:23Z</dcterms:created>
  <dcterms:modified xsi:type="dcterms:W3CDTF">2026-02-16T04:08:05Z</dcterms:modified>
</cp:coreProperties>
</file>
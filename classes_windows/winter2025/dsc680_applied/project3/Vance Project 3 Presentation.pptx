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9"/>
    <p:restoredTop sz="85277"/>
  </p:normalViewPr>
  <p:slideViewPr>
    <p:cSldViewPr snapToGrid="0">
      <p:cViewPr varScale="1">
        <p:scale>
          <a:sx n="103" d="100"/>
          <a:sy n="103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91E04-7BB3-8542-A7E8-3993BD214801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459A-E0E8-0F4F-98D3-8456D0CB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459A-E0E8-0F4F-98D3-8456D0CBF1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5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459A-E0E8-0F4F-98D3-8456D0CBF1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42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459A-E0E8-0F4F-98D3-8456D0CBF1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97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459A-E0E8-0F4F-98D3-8456D0CBF1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45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1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8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12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0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2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0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6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76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1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3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85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91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7" Type="http://schemas.openxmlformats.org/officeDocument/2006/relationships/image" Target="../media/image2.png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7" Type="http://schemas.openxmlformats.org/officeDocument/2006/relationships/image" Target="../media/image2.png"/><Relationship Id="rId2" Type="http://schemas.microsoft.com/office/2007/relationships/media" Target="../media/media2.m4a"/><Relationship Id="rId1" Type="http://schemas.openxmlformats.org/officeDocument/2006/relationships/tags" Target="../tags/tag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4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5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CE981F40-AD8C-6082-7BE1-38A0A3ECC73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42442B-6F93-1DBA-C007-EC0C7F0F0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>
                <a:solidFill>
                  <a:srgbClr val="FFFFFF"/>
                </a:solidFill>
              </a:rPr>
              <a:t>Screen Time and Health Outcomes in Youth</a:t>
            </a:r>
          </a:p>
          <a:p>
            <a:pPr>
              <a:lnSpc>
                <a:spcPct val="90000"/>
              </a:lnSpc>
            </a:pPr>
            <a:r>
              <a:rPr lang="en-US" sz="3800">
                <a:solidFill>
                  <a:srgbClr val="FFFFFF"/>
                </a:solidFill>
              </a:rPr>
              <a:t>DSC 680 - Applied Data Science</a:t>
            </a:r>
          </a:p>
          <a:p>
            <a:pPr>
              <a:lnSpc>
                <a:spcPct val="90000"/>
              </a:lnSpc>
            </a:pPr>
            <a:r>
              <a:rPr lang="en-US" sz="3800">
                <a:solidFill>
                  <a:srgbClr val="FFFFFF"/>
                </a:solidFill>
              </a:rPr>
              <a:t>Professor Amirfarrokh Iranitalab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8083A-0E19-6866-8333-9169D9AD3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</a:rPr>
              <a:t>Project 3 Milestone 3</a:t>
            </a: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</a:rPr>
              <a:t>By Gabriel Vance</a:t>
            </a: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</a:rPr>
              <a:t>March 2026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udio 9">
            <a:extLst>
              <a:ext uri="{FF2B5EF4-FFF2-40B4-BE49-F238E27FC236}">
                <a16:creationId xmlns:a16="http://schemas.microsoft.com/office/drawing/2014/main" id="{CB461E1D-9F82-2763-885F-761573E9970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071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156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476EA-2DF0-ABC3-4CE0-F932E6AEC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E3E5F96F-498A-EC44-7DDE-CE7B49E0128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BACB83-BB53-FDEF-2B8C-3FC5554A3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85234"/>
            <a:ext cx="10962915" cy="1115416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Background / Context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6F86512-C2FD-E8DE-5422-BC4E6060C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493" y="2100649"/>
            <a:ext cx="9401668" cy="4255693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</a:rPr>
              <a:t>Youth screen exposure now spans smartphones, social media, streaming, gaming, and school apps.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</a:rPr>
              <a:t>Prior research shows mixed effect sizes, but repeated concerns involve sleep loss, emotional strain, and attention burden.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</a:rPr>
              <a:t>This study examines whether heavier daily screen use is associated with poorer health and behavioral outcomes.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udio 4">
            <a:extLst>
              <a:ext uri="{FF2B5EF4-FFF2-40B4-BE49-F238E27FC236}">
                <a16:creationId xmlns:a16="http://schemas.microsoft.com/office/drawing/2014/main" id="{5B7269EB-C54C-F615-E400-AD23201E5B2E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791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408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BA46E-52C0-FFC1-A3DA-85B9FD38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E46BB34-338A-D259-3107-41EFF16A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6EDCAB50-088C-367E-F145-A77F6B4EF5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60A9C9-66FC-230F-075E-4810FE9F9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85234"/>
            <a:ext cx="9887877" cy="1148368"/>
          </a:xfrm>
        </p:spPr>
        <p:txBody>
          <a:bodyPr anchor="t">
            <a:normAutofit/>
          </a:bodyPr>
          <a:lstStyle/>
          <a:p>
            <a:r>
              <a:rPr dirty="0"/>
              <a:t>Business Problem and Objective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E2AD71-5C9A-316E-7330-30082B233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218" y="2133601"/>
            <a:ext cx="9594550" cy="4222742"/>
          </a:xfrm>
        </p:spPr>
        <p:txBody>
          <a:bodyPr anchor="t">
            <a:normAutofit/>
          </a:bodyPr>
          <a:lstStyle/>
          <a:p>
            <a:r>
              <a:t>Goal: identify whether higher daily screen time is linked to sleep, mental-health, attention, and cognitive risk.</a:t>
            </a:r>
          </a:p>
          <a:p>
            <a:r>
              <a:t>Question 1: Is total screen exposure associated with poorer sleep and worse mental-health burden?</a:t>
            </a:r>
          </a:p>
          <a:p>
            <a:r>
              <a:t>Question 2: Which usage patterns and subgroups show the strongest adjusted risk?</a:t>
            </a:r>
          </a:p>
          <a:p>
            <a:r>
              <a:t>Outcome: support evidence-based thresholds and targeted interventions, not causal claims.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097CC1-EFF7-FF20-C1F3-69B5C27F4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udio 4">
            <a:extLst>
              <a:ext uri="{FF2B5EF4-FFF2-40B4-BE49-F238E27FC236}">
                <a16:creationId xmlns:a16="http://schemas.microsoft.com/office/drawing/2014/main" id="{BE7DD48A-C21B-D87D-9F3E-1C4A8F51AF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92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3097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4CEE9-5541-2C6D-885D-E6EC9CC1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54443D5-3D2F-4D8A-BCBE-D98A74481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AAABAD61-3710-783C-7247-B7241D50C86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69C1E7-5221-832B-F688-083B13B32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85234"/>
            <a:ext cx="10221509" cy="1148368"/>
          </a:xfrm>
        </p:spPr>
        <p:txBody>
          <a:bodyPr anchor="t">
            <a:normAutofit/>
          </a:bodyPr>
          <a:lstStyle/>
          <a:p>
            <a:r>
              <a:rPr dirty="0"/>
              <a:t>Data Sources and Preparation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1485EB6-6483-A78C-4FD6-3172D7C25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218" y="2133601"/>
            <a:ext cx="9594550" cy="4222742"/>
          </a:xfrm>
        </p:spPr>
        <p:txBody>
          <a:bodyPr anchor="t">
            <a:normAutofit/>
          </a:bodyPr>
          <a:lstStyle/>
          <a:p>
            <a:r>
              <a:t>Draft analysis uses a harmonized pilot dataset with 2,400 youth-level records.</a:t>
            </a:r>
          </a:p>
          <a:p>
            <a:r>
              <a:t>Core fields: total/subtype screen hours, age, sex, SES, physical activity, sleep, anxiety, depression, attention, cognition.</a:t>
            </a:r>
          </a:p>
          <a:p>
            <a:r>
              <a:t>Preparation: range checks, duplicate review, and median imputation for low-rate missingness.</a:t>
            </a:r>
          </a:p>
          <a:p>
            <a:r>
              <a:t>Derived measures: mental-health index, poor-sleep flag, and heavy-screen exposure indicator.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B93CD9-010F-193C-1DA1-8A222FAB9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Audio 13">
            <a:extLst>
              <a:ext uri="{FF2B5EF4-FFF2-40B4-BE49-F238E27FC236}">
                <a16:creationId xmlns:a16="http://schemas.microsoft.com/office/drawing/2014/main" id="{BF208246-598E-15E3-B932-DF00745F5A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00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666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345C9-5CF5-025C-A070-36EDC840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DE3A9D9-E829-11B5-A987-9ED8C92F0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D82E329D-E0E5-83F1-5367-7E7BB41D1ED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C37508-7F5D-BA51-F4B0-8124E5633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9937304" cy="1148368"/>
          </a:xfrm>
        </p:spPr>
        <p:txBody>
          <a:bodyPr anchor="t">
            <a:normAutofit/>
          </a:bodyPr>
          <a:lstStyle/>
          <a:p>
            <a:r>
              <a:rPr dirty="0"/>
              <a:t>Study Sample and Schema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F0797E7-4690-D1A0-8EA5-00B9FE0E1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218" y="2133601"/>
            <a:ext cx="9594550" cy="4222742"/>
          </a:xfrm>
        </p:spPr>
        <p:txBody>
          <a:bodyPr anchor="t">
            <a:normAutofit/>
          </a:bodyPr>
          <a:lstStyle/>
          <a:p>
            <a:r>
              <a:t>All time variables were standardized to hours per day.</a:t>
            </a:r>
          </a:p>
          <a:p>
            <a:r>
              <a:t>Key age groups:</a:t>
            </a:r>
          </a:p>
          <a:p>
            <a:r>
              <a:t>- 10-12</a:t>
            </a:r>
          </a:p>
          <a:p>
            <a:r>
              <a:t>- 13-15</a:t>
            </a:r>
          </a:p>
          <a:p>
            <a:r>
              <a:t>- 16-18</a:t>
            </a:r>
          </a:p>
          <a:p>
            <a:r>
              <a:t>Thresholds: heavy use &gt;=6 hours/day; poor sleep &lt;7.5 hours/night.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E9B4B7-DDF8-AD8F-4660-6760E769E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udio 4">
            <a:extLst>
              <a:ext uri="{FF2B5EF4-FFF2-40B4-BE49-F238E27FC236}">
                <a16:creationId xmlns:a16="http://schemas.microsoft.com/office/drawing/2014/main" id="{055DFF87-85B5-05F6-8BFD-BADC72CCB3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38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323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79857-0B72-9308-8F81-D8AC1E91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2800890-D54F-5D2D-68B3-414F15EC3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6A39E982-81C5-77EF-4CEA-84E7FAA8338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498A4-3D76-FABA-5DAE-98CCC04E6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9903062" cy="1148368"/>
          </a:xfrm>
        </p:spPr>
        <p:txBody>
          <a:bodyPr anchor="t">
            <a:normAutofit fontScale="90000"/>
          </a:bodyPr>
          <a:lstStyle/>
          <a:p>
            <a:r>
              <a:t>Age-Level Screen Exposure Patterns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9574F85-18C3-B648-27B2-69B678470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2693907"/>
            <a:ext cx="5382767" cy="3662436"/>
          </a:xfrm>
        </p:spPr>
        <p:txBody>
          <a:bodyPr anchor="t">
            <a:normAutofit fontScale="92500" lnSpcReduction="20000"/>
          </a:bodyPr>
          <a:lstStyle/>
          <a:p>
            <a:r>
              <a:rPr dirty="0"/>
              <a:t>Figure 1 summarizes daily screen hours by age group.</a:t>
            </a:r>
          </a:p>
          <a:p>
            <a:r>
              <a:rPr dirty="0"/>
              <a:t>Mean exposure rises from about 2.99 hours (10-12) to 4.31 (13-15) to 5.52 (16-18).</a:t>
            </a:r>
          </a:p>
          <a:p>
            <a:r>
              <a:rPr dirty="0"/>
              <a:t>Older youth show a clear upward shift in exposure and more high-use cases.</a:t>
            </a:r>
          </a:p>
          <a:p>
            <a:r>
              <a:rPr dirty="0"/>
              <a:t>Result: screen burden is concentrated most heavily in the oldest age band.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02487B9-333E-BE90-40FA-85D715153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A0198AE-01D4-AA33-69B9-9BF2214C11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01" y="2799366"/>
            <a:ext cx="5613400" cy="3073400"/>
          </a:xfrm>
          <a:prstGeom prst="rect">
            <a:avLst/>
          </a:prstGeom>
        </p:spPr>
      </p:pic>
      <p:pic>
        <p:nvPicPr>
          <p:cNvPr id="7" name="Audio 6">
            <a:extLst>
              <a:ext uri="{FF2B5EF4-FFF2-40B4-BE49-F238E27FC236}">
                <a16:creationId xmlns:a16="http://schemas.microsoft.com/office/drawing/2014/main" id="{198BBD05-91A5-9B0A-5337-1741438AEE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0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638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0B87A-8647-8B0F-F803-4C5D53A8C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91173AD-8406-B1EF-D649-FEFF29EE2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66CAFC85-CAD3-86BF-9EFB-4A34264908B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3659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C6F7E8-EE10-6B23-1A9A-12016F89D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85234"/>
            <a:ext cx="11158985" cy="1148368"/>
          </a:xfrm>
        </p:spPr>
        <p:txBody>
          <a:bodyPr anchor="t">
            <a:normAutofit/>
          </a:bodyPr>
          <a:lstStyle/>
          <a:p>
            <a:r>
              <a:t>Screen Time, Sleep, and Outcomes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BE5DFE8-CDB8-CD9E-8BBC-82029495C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5904" y="2133602"/>
            <a:ext cx="3866018" cy="2630013"/>
          </a:xfrm>
        </p:spPr>
        <p:txBody>
          <a:bodyPr anchor="t">
            <a:noAutofit/>
          </a:bodyPr>
          <a:lstStyle/>
          <a:p>
            <a:r>
              <a:rPr sz="1200" dirty="0"/>
              <a:t>Figure 2 shows a strong negative relationship between screen hours and sleep duration.</a:t>
            </a:r>
          </a:p>
          <a:p>
            <a:r>
              <a:rPr sz="1200" dirty="0"/>
              <a:t>Correlations: screen vs sleep r = -0.683; screen vs attention r = -0.553.</a:t>
            </a:r>
          </a:p>
          <a:p>
            <a:r>
              <a:rPr sz="1200" dirty="0"/>
              <a:t>Screen exposure is positively associated with worse mental-health burden (r = 0.748).</a:t>
            </a:r>
          </a:p>
          <a:p>
            <a:r>
              <a:rPr sz="1200" dirty="0"/>
              <a:t>Interpretation: higher screen use aligns with less sleep and weaker behavioral outcomes.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AAFE59-EF54-B2DE-F2CF-63F189D16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BDC6F64-411A-9C2B-93CC-3727A399D3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41" y="2133602"/>
            <a:ext cx="7251521" cy="3970290"/>
          </a:xfrm>
          <a:prstGeom prst="rect">
            <a:avLst/>
          </a:prstGeom>
        </p:spPr>
      </p:pic>
      <p:pic>
        <p:nvPicPr>
          <p:cNvPr id="7" name="Audio 6">
            <a:extLst>
              <a:ext uri="{FF2B5EF4-FFF2-40B4-BE49-F238E27FC236}">
                <a16:creationId xmlns:a16="http://schemas.microsoft.com/office/drawing/2014/main" id="{979A633E-E8D1-FFE5-DA38-9B8428FC52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4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310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51B5F1-A597-C8E8-9CCF-36B1BB88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DB4CC01-3A27-7215-FDF9-86D5F6C9B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3F24C2A9-B338-3BC7-FAEB-EF3E790DD5C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9470E-9A66-60C5-37A5-7513B292D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10512602" cy="843566"/>
          </a:xfrm>
        </p:spPr>
        <p:txBody>
          <a:bodyPr anchor="t">
            <a:normAutofit fontScale="90000"/>
          </a:bodyPr>
          <a:lstStyle/>
          <a:p>
            <a:r>
              <a:rPr dirty="0"/>
              <a:t>Adjusted Models and Key Estimates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BC72A26-AC4E-9B60-8BFA-8AF925C6E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1564" y="2308485"/>
            <a:ext cx="3817204" cy="4047857"/>
          </a:xfrm>
        </p:spPr>
        <p:txBody>
          <a:bodyPr anchor="t">
            <a:normAutofit fontScale="85000" lnSpcReduction="10000"/>
          </a:bodyPr>
          <a:lstStyle/>
          <a:p>
            <a:r>
              <a:rPr dirty="0"/>
              <a:t>Models estimated:</a:t>
            </a:r>
          </a:p>
          <a:p>
            <a:r>
              <a:rPr dirty="0"/>
              <a:t>- OLS for mental-health index</a:t>
            </a:r>
          </a:p>
          <a:p>
            <a:r>
              <a:rPr dirty="0"/>
              <a:t>- Logistic regression for poor sleep risk</a:t>
            </a:r>
          </a:p>
          <a:p>
            <a:r>
              <a:rPr dirty="0"/>
              <a:t>Controls: age, sex, SES, physical activity, and sleep where appropriate.</a:t>
            </a:r>
          </a:p>
          <a:p>
            <a:r>
              <a:rPr dirty="0"/>
              <a:t>Key estimates: OR = 2.256 for poor sleep; OLS beta = 0.213 for mental-health burden.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AD6E36-75CB-ED69-B1D1-5B559C70F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BEF1BB6-4588-5F37-2A6E-8F39A68D3B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90" y="1828800"/>
            <a:ext cx="6457344" cy="4725675"/>
          </a:xfrm>
          <a:prstGeom prst="rect">
            <a:avLst/>
          </a:prstGeom>
        </p:spPr>
      </p:pic>
      <p:pic>
        <p:nvPicPr>
          <p:cNvPr id="7" name="Audio 6">
            <a:extLst>
              <a:ext uri="{FF2B5EF4-FFF2-40B4-BE49-F238E27FC236}">
                <a16:creationId xmlns:a16="http://schemas.microsoft.com/office/drawing/2014/main" id="{D43AF4FE-62F0-BE98-1D34-F5E34D96B5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9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512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61A8E-7FF4-A42D-74A2-12CB844C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BFCF7C2-FC4B-8B6C-B205-72A7651BA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04C8D7B9-AD13-358A-8EE3-D4FA8F53B2A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CE1606-F388-6ACA-4818-C63CC54EB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611161"/>
            <a:ext cx="9938292" cy="1148368"/>
          </a:xfrm>
        </p:spPr>
        <p:txBody>
          <a:bodyPr anchor="t">
            <a:normAutofit/>
          </a:bodyPr>
          <a:lstStyle/>
          <a:p>
            <a:r>
              <a:rPr dirty="0"/>
              <a:t>Practical Implications and Uses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0F9EEFE-DCFD-B775-ED2A-1E4968C01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903632"/>
            <a:ext cx="9649968" cy="4452710"/>
          </a:xfrm>
        </p:spPr>
        <p:txBody>
          <a:bodyPr anchor="t">
            <a:normAutofit fontScale="92500" lnSpcReduction="20000"/>
          </a:bodyPr>
          <a:lstStyle/>
          <a:p>
            <a:r>
              <a:t>Findings support targeted intervention rather than one-size screen restrictions.</a:t>
            </a:r>
          </a:p>
          <a:p>
            <a:r>
              <a:t>Potential uses:</a:t>
            </a:r>
          </a:p>
          <a:p>
            <a:r>
              <a:t>- School sleep-risk and distress dashboards</a:t>
            </a:r>
          </a:p>
          <a:p>
            <a:r>
              <a:t>- Family guidance focused on behavior patterns, not only total hours</a:t>
            </a:r>
          </a:p>
          <a:p>
            <a:r>
              <a:t>- Scenario planning that combines sleep hygiene, activity, and screen routines</a:t>
            </a:r>
          </a:p>
          <a:p>
            <a:r>
              <a:t>Communication should emphasize uncertainty and supportive framing.</a:t>
            </a:r>
          </a:p>
          <a:p>
            <a:r>
              <a:t>These results are useful for policy discussion, not deterministic labeling.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B699FA3-DBF4-91B3-140F-C9042389D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udio 4">
            <a:extLst>
              <a:ext uri="{FF2B5EF4-FFF2-40B4-BE49-F238E27FC236}">
                <a16:creationId xmlns:a16="http://schemas.microsoft.com/office/drawing/2014/main" id="{D53EC6E7-872C-12AF-EEB7-126D28A30B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88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2966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55013-35A7-2E94-477C-29021052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838538B-283B-6287-A475-AA1D86DBB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5B589352-CBA4-EDB9-D54E-A206A795128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B5D952-D571-A204-5558-21D701B6E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611161"/>
            <a:ext cx="6553934" cy="1148368"/>
          </a:xfrm>
        </p:spPr>
        <p:txBody>
          <a:bodyPr anchor="t">
            <a:normAutofit fontScale="90000"/>
          </a:bodyPr>
          <a:lstStyle/>
          <a:p>
            <a:r>
              <a:t>Key Findings Summary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861F7AA-864A-D2F5-772C-15E1A9656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5">
            <a:extLst>
              <a:ext uri="{FF2B5EF4-FFF2-40B4-BE49-F238E27FC236}">
                <a16:creationId xmlns:a16="http://schemas.microsoft.com/office/drawing/2014/main" id="{863C1591-FCBC-FA9F-EB7B-CE1DC3838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9449" y="2118472"/>
            <a:ext cx="8364301" cy="4343197"/>
          </a:xfrm>
        </p:spPr>
        <p:txBody>
          <a:bodyPr anchor="t">
            <a:normAutofit/>
          </a:bodyPr>
          <a:lstStyle/>
          <a:p>
            <a:r>
              <a:rPr dirty="0"/>
              <a:t>Average daily screen exposure: 4.26 hours.</a:t>
            </a:r>
          </a:p>
          <a:p>
            <a:r>
              <a:rPr dirty="0"/>
              <a:t>Average sleep duration: 8.91 hours.</a:t>
            </a:r>
          </a:p>
          <a:p>
            <a:r>
              <a:rPr dirty="0"/>
              <a:t>Heavy-use prevalence: 13.5%; </a:t>
            </a:r>
            <a:endParaRPr lang="en-US" dirty="0"/>
          </a:p>
          <a:p>
            <a:r>
              <a:rPr dirty="0"/>
              <a:t>poor-sleep prevalence: 4.9%.</a:t>
            </a:r>
          </a:p>
          <a:p>
            <a:r>
              <a:rPr dirty="0"/>
              <a:t>Higher screen time remained associated with worse sleep and mental-health burden after adjustment.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19BADA3B-D6AF-29A2-3513-AB950BB8A6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71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485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41CB7-F5C8-962C-9637-65486AE8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721BA54-77B6-10E9-AE75-57D6D84BE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D02166BD-CB15-7CB2-D68A-CBD3DA92EA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5AC5B5-40C0-F6E0-22E0-1C3FA5CD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611161"/>
            <a:ext cx="6553934" cy="1148368"/>
          </a:xfrm>
        </p:spPr>
        <p:txBody>
          <a:bodyPr anchor="t">
            <a:normAutofit/>
          </a:bodyPr>
          <a:lstStyle/>
          <a:p>
            <a:r>
              <a:t>Conclusions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E620872-35BF-DA58-652B-8F94A30D4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903632"/>
            <a:ext cx="9649968" cy="4452710"/>
          </a:xfrm>
        </p:spPr>
        <p:txBody>
          <a:bodyPr anchor="t">
            <a:normAutofit/>
          </a:bodyPr>
          <a:lstStyle/>
          <a:p>
            <a:r>
              <a:t>Heavier screen exposure is associated with poorer sleep and greater mental-health burden.</a:t>
            </a:r>
          </a:p>
          <a:p>
            <a:r>
              <a:t>Effect magnitudes are large enough to matter for parents, schools, and public-health planning.</a:t>
            </a:r>
          </a:p>
          <a:p>
            <a:r>
              <a:t>The pilot workflow is reproducible and ready for extension to final merged Kaggle data.</a:t>
            </a:r>
          </a:p>
          <a:p>
            <a:r>
              <a:t>Best use: targeted intervention planning, not deterministic prediction or blame.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A1F0C9-8713-06E2-C92E-44435E2B1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udio 4">
            <a:extLst>
              <a:ext uri="{FF2B5EF4-FFF2-40B4-BE49-F238E27FC236}">
                <a16:creationId xmlns:a16="http://schemas.microsoft.com/office/drawing/2014/main" id="{82E85FA3-09E2-8557-F180-8380173427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0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456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6E0BA-AA52-01EF-6631-3C27D3E0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31D5FE-8BD1-635B-B063-6F5C574B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2ACE79EF-C556-B8AC-70AC-FBE797C9391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95CEA-C116-8A31-EBB0-598E438C3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1" y="611161"/>
            <a:ext cx="9649967" cy="1148368"/>
          </a:xfrm>
        </p:spPr>
        <p:txBody>
          <a:bodyPr anchor="t">
            <a:normAutofit fontScale="90000"/>
          </a:bodyPr>
          <a:lstStyle/>
          <a:p>
            <a:r>
              <a:rPr dirty="0"/>
              <a:t>Limitations and Responsible Use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159D9E5-D229-585E-B3CC-D24AAE0C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903632"/>
            <a:ext cx="9649968" cy="4452710"/>
          </a:xfrm>
        </p:spPr>
        <p:txBody>
          <a:bodyPr anchor="t">
            <a:normAutofit/>
          </a:bodyPr>
          <a:lstStyle/>
          <a:p>
            <a:r>
              <a:t>Findings are association-based and do not establish causality.</a:t>
            </a:r>
          </a:p>
          <a:p>
            <a:r>
              <a:t>The structure is cross-sectional and relies on self-reported behavior proxies.</a:t>
            </a:r>
          </a:p>
          <a:p>
            <a:r>
              <a:t>Source harmonization, missingness, and subgroup reporting bias remain key challenges.</a:t>
            </a:r>
          </a:p>
          <a:p>
            <a:r>
              <a:t>Responsible use requires de-identification, subgroup-safe reporting, and non-stigmatizing interpretation.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767ED7-D2B6-EF15-26C4-58260969B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udio 9">
            <a:extLst>
              <a:ext uri="{FF2B5EF4-FFF2-40B4-BE49-F238E27FC236}">
                <a16:creationId xmlns:a16="http://schemas.microsoft.com/office/drawing/2014/main" id="{E9A35FFE-162F-F173-F497-1F5AEA4D9B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27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620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C4CEA-2595-CE3D-D3C1-6A8193E4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A6356E8-1B00-D01A-1373-765DAD584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CC6C4051-CF59-2108-85F1-5AD0ACC4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84B3C6-1CF3-552B-484B-58374F920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1" y="611161"/>
            <a:ext cx="9172173" cy="1148368"/>
          </a:xfrm>
        </p:spPr>
        <p:txBody>
          <a:bodyPr anchor="t">
            <a:normAutofit/>
          </a:bodyPr>
          <a:lstStyle/>
          <a:p>
            <a:r>
              <a:rPr dirty="0"/>
              <a:t>References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EF969B5-8A08-0BEA-727E-BEE230610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903632"/>
            <a:ext cx="9649968" cy="4452710"/>
          </a:xfrm>
        </p:spPr>
        <p:txBody>
          <a:bodyPr anchor="t">
            <a:normAutofit/>
          </a:bodyPr>
          <a:lstStyle/>
          <a:p>
            <a:r>
              <a:rPr dirty="0"/>
              <a:t>References from the milestone report:</a:t>
            </a:r>
          </a:p>
          <a:p>
            <a:r>
              <a:rPr dirty="0"/>
              <a:t>1. CDC (2025) on screen time and adolescent health outcomes</a:t>
            </a:r>
          </a:p>
          <a:p>
            <a:r>
              <a:rPr dirty="0"/>
              <a:t>2. Orben and Przybylski (2019)</a:t>
            </a:r>
          </a:p>
          <a:p>
            <a:r>
              <a:rPr dirty="0"/>
              <a:t>3. Twenge and Campbell (2018)</a:t>
            </a:r>
          </a:p>
          <a:p>
            <a:r>
              <a:rPr dirty="0"/>
              <a:t>4. Walsh et al. (2018); WHO (2019); AAP (2025)</a:t>
            </a:r>
          </a:p>
          <a:p>
            <a:endParaRPr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F59076-EFC8-3B88-C580-42B9D58B9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407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3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3.7"/>
</p:tagLst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</TotalTime>
  <Words>724</Words>
  <Application>Microsoft Macintosh PowerPoint</Application>
  <PresentationFormat>Widescreen</PresentationFormat>
  <Paragraphs>77</Paragraphs>
  <Slides>13</Slides>
  <Notes>13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Grandview Display</vt:lpstr>
      <vt:lpstr>DashVTI</vt:lpstr>
      <vt:lpstr>Screen Time and Health Outcomes in Youth DSC 680 - Applied Data Science Professor Amirfarrokh Iranitalab</vt:lpstr>
      <vt:lpstr>Background / Context</vt:lpstr>
      <vt:lpstr>Business Problem and Objective</vt:lpstr>
      <vt:lpstr>Data Sources and Preparation</vt:lpstr>
      <vt:lpstr>Study Sample and Schema</vt:lpstr>
      <vt:lpstr>Age-Level Screen Exposure Patterns</vt:lpstr>
      <vt:lpstr>Screen Time, Sleep, and Outcomes</vt:lpstr>
      <vt:lpstr>Adjusted Models and Key Estimates</vt:lpstr>
      <vt:lpstr>Practical Implications and Uses</vt:lpstr>
      <vt:lpstr>Key Findings Summary</vt:lpstr>
      <vt:lpstr>Conclusions</vt:lpstr>
      <vt:lpstr>Limitations and Responsible Use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Vance</dc:creator>
  <cp:lastModifiedBy>Gabriel Vance</cp:lastModifiedBy>
  <cp:revision>2</cp:revision>
  <dcterms:created xsi:type="dcterms:W3CDTF">2025-11-23T19:58:23Z</dcterms:created>
  <dcterms:modified xsi:type="dcterms:W3CDTF">2026-03-08T17:06:56Z</dcterms:modified>
</cp:coreProperties>
</file>
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C38C329-05C1-44E0-942C-D7A60A7F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40E99DB-69B1-42D9-9A2E-A196302E0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DA98F3A3-687B-4002-93F2-58E8590D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7A1367E-049C-45E5-9C32-CC32DCEAE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174" y="0"/>
            <a:ext cx="9590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27A3A-D1E8-68B1-2F03-769276285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309" y="326017"/>
            <a:ext cx="7710140" cy="10772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16E2DAB7-48CB-400E-9ED2-FB1762BE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589439" y="326017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472DC-358B-DD65-D97B-BAD641AF6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308" y="1591733"/>
            <a:ext cx="7710141" cy="4684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/>
              <a:t>Global bank fraud and AML risk is rising across channels and geographies.</a:t>
            </a:r>
          </a:p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/>
              <a:t>Unauthorized card transactions and account takeover attempts are increasing in volume and sophistication.</a:t>
            </a:r>
          </a:p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/>
              <a:t>Batch-only detection causes delayed response, customer friction, and preventable financial loss.</a:t>
            </a:r>
          </a:p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/>
              <a:t>Current monitoring generates high false positives, overwhelming investigators and slowing case resolution.</a:t>
            </a:r>
          </a:p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/>
              <a:t>Regulators require explainable alerts, full audit trails, and strong anti-money laundering controls.</a:t>
            </a:r>
          </a:p>
          <a:p>
            <a:pPr algn="l">
              <a:lnSpc>
                <a:spcPct val="11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/>
              <a:t>Business goal: detect and block high-risk events in real time while preserving customer trust and compliance.</a:t>
            </a:r>
          </a:p>
        </p:txBody>
      </p:sp>
    </p:spTree>
    <p:extLst>
      <p:ext uri="{BB962C8B-B14F-4D97-AF65-F5344CB8AC3E}">
        <p14:creationId xmlns:p14="http://schemas.microsoft.com/office/powerpoint/2010/main" val="74707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95EC-9412-06CE-57C8-52B306AA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1902-6D53-EF8E-B1E3-AD66F2685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rPr dirty="0"/>
              <a:t>Data Sources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rPr dirty="0"/>
              <a:t>Cards, ATM, Mobile, Core Banking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1952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t>NiFi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t>Ingest + route + enrich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2424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t>Kafka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t>Event streaming backbone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82896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t>Spark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t>Streaming detection + ML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t>HBase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t>Low-latency customer/event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1325880" cy="749808"/>
          </a:xfrm>
          <a:prstGeom prst="roundRect">
            <a:avLst/>
          </a:prstGeom>
          <a:solidFill>
            <a:srgbClr val="E1ECF7"/>
          </a:solidFill>
          <a:ln>
            <a:solidFill>
              <a:srgbClr val="3B5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85A"/>
                </a:solidFill>
              </a:defRPr>
            </a:pPr>
            <a:r>
              <a:t>Solr</a:t>
            </a:r>
          </a:p>
          <a:p>
            <a:pPr>
              <a:defRPr sz="800">
                <a:solidFill>
                  <a:srgbClr val="14285A"/>
                </a:solidFill>
              </a:defRPr>
            </a:pPr>
            <a:r>
              <a:t>Investigator search + case lookup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2157984"/>
            <a:ext cx="164592" cy="109728"/>
          </a:xfrm>
          <a:prstGeom prst="rightArrow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227832" y="2157984"/>
            <a:ext cx="164592" cy="109728"/>
          </a:xfrm>
          <a:prstGeom prst="rightArrow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718304" y="2157984"/>
            <a:ext cx="164592" cy="109728"/>
          </a:xfrm>
          <a:prstGeom prst="rightArrow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6208776" y="2157984"/>
            <a:ext cx="164592" cy="109728"/>
          </a:xfrm>
          <a:prstGeom prst="rightArrow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699248" y="2157984"/>
            <a:ext cx="164592" cy="109728"/>
          </a:xfrm>
          <a:prstGeom prst="rightArrow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03120" y="3154680"/>
            <a:ext cx="210312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1B5E20"/>
                </a:solidFill>
              </a:defRPr>
            </a:pPr>
            <a:r>
              <a:t>HDFS</a:t>
            </a:r>
          </a:p>
          <a:p>
            <a:pPr>
              <a:defRPr sz="1000">
                <a:solidFill>
                  <a:srgbClr val="1B5E20"/>
                </a:solidFill>
              </a:defRPr>
            </a:pPr>
            <a:r>
              <a:t>Historical data lake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154680"/>
            <a:ext cx="2103120" cy="731520"/>
          </a:xfrm>
          <a:prstGeom prst="roundRect">
            <a:avLst/>
          </a:prstGeom>
          <a:solidFill>
            <a:srgbClr val="FFF3E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BF360C"/>
                </a:solidFill>
              </a:defRPr>
            </a:pPr>
            <a:r>
              <a:t>Hive</a:t>
            </a:r>
          </a:p>
          <a:p>
            <a:pPr>
              <a:defRPr sz="1000">
                <a:solidFill>
                  <a:srgbClr val="BF360C"/>
                </a:solidFill>
              </a:defRPr>
            </a:pPr>
            <a:r>
              <a:t>AML rules + compliance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977639"/>
            <a:ext cx="4846320" cy="329184"/>
          </a:xfrm>
          <a:prstGeom prst="rect">
            <a:avLst/>
          </a:prstGeom>
          <a:solidFill>
            <a:srgbClr val="E0E0E0"/>
          </a:solidFill>
          <a:ln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424242"/>
                </a:solidFill>
              </a:defRPr>
            </a:pPr>
            <a:r>
              <a:t>YARN: Cluster resource management for Spark and Hive workloads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00116" y="2578608"/>
            <a:ext cx="91440" cy="576072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5500116" y="2578608"/>
            <a:ext cx="91440" cy="576072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7699248" y="2167128"/>
            <a:ext cx="164592" cy="91440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3004" y="3108960"/>
            <a:ext cx="2137124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rPr sz="1200" dirty="0"/>
              <a:t>Supporting Details</a:t>
            </a:r>
          </a:p>
          <a:p>
            <a:pPr>
              <a:defRPr sz="800"/>
            </a:pPr>
            <a:r>
              <a:rPr sz="900" dirty="0" err="1"/>
              <a:t>NiFi</a:t>
            </a:r>
            <a:r>
              <a:rPr sz="900" dirty="0"/>
              <a:t>: ingest and route streams</a:t>
            </a:r>
          </a:p>
          <a:p>
            <a:pPr>
              <a:defRPr sz="800"/>
            </a:pPr>
            <a:r>
              <a:rPr sz="900" dirty="0"/>
              <a:t>Kafka: durable event buffering</a:t>
            </a:r>
          </a:p>
          <a:p>
            <a:pPr>
              <a:defRPr sz="800"/>
            </a:pPr>
            <a:r>
              <a:rPr sz="900" dirty="0"/>
              <a:t>Spark: real-time scoring engine</a:t>
            </a:r>
          </a:p>
          <a:p>
            <a:pPr>
              <a:defRPr sz="800"/>
            </a:pPr>
            <a:r>
              <a:rPr sz="900" dirty="0"/>
              <a:t>HBase: instant profile lookups</a:t>
            </a:r>
          </a:p>
          <a:p>
            <a:pPr>
              <a:defRPr sz="800"/>
            </a:pPr>
            <a:r>
              <a:rPr sz="900" dirty="0"/>
              <a:t>HDFS/Hive: analytics + AML evidence</a:t>
            </a:r>
          </a:p>
          <a:p>
            <a:pPr>
              <a:defRPr sz="800"/>
            </a:pPr>
            <a:r>
              <a:rPr sz="900" dirty="0"/>
              <a:t>Solr: investigator search &amp; triage</a:t>
            </a:r>
          </a:p>
          <a:p>
            <a:pPr>
              <a:defRPr sz="800"/>
            </a:pPr>
            <a:r>
              <a:rPr sz="900" dirty="0"/>
              <a:t>YARN: workload isolation + scaling</a:t>
            </a:r>
          </a:p>
        </p:txBody>
      </p:sp>
    </p:spTree>
    <p:extLst>
      <p:ext uri="{BB962C8B-B14F-4D97-AF65-F5344CB8AC3E}">
        <p14:creationId xmlns:p14="http://schemas.microsoft.com/office/powerpoint/2010/main" val="321913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38C329-05C1-44E0-942C-D7A60A7F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0E99DB-69B1-42D9-9A2E-A196302E0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A98F3A3-687B-4002-93F2-58E8590D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A1367E-049C-45E5-9C32-CC32DCEAE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174" y="0"/>
            <a:ext cx="9590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80083-023A-01C1-3D65-131FB7F1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309" y="326017"/>
            <a:ext cx="7710140" cy="1077229"/>
          </a:xfrm>
        </p:spPr>
        <p:txBody>
          <a:bodyPr anchor="b">
            <a:normAutofit/>
          </a:bodyPr>
          <a:lstStyle/>
          <a:p>
            <a:r>
              <a:rPr lang="en-US" sz="4000"/>
              <a:t>Benefits &amp; Conclusion</a:t>
            </a: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16E2DAB7-48CB-400E-9ED2-FB1762BE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589439" y="326017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1706-C41C-B363-C610-009C89725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308" y="1591733"/>
            <a:ext cx="7710141" cy="4684887"/>
          </a:xfrm>
        </p:spPr>
        <p:txBody>
          <a:bodyPr anchor="ctr">
            <a:normAutofit fontScale="92500"/>
          </a:bodyPr>
          <a:lstStyle/>
          <a:p>
            <a:pPr>
              <a:lnSpc>
                <a:spcPct val="110000"/>
              </a:lnSpc>
              <a:defRPr sz="2400" b="1"/>
            </a:pPr>
            <a:r>
              <a:rPr lang="en-US" sz="1500"/>
              <a:t>Business and Technical Benefits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Real-time fraud response: transactions are scored and risky events are blocked within seconds.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Higher detection quality: behavior analytics reduce false positives and improve investigator focus.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Regulatory readiness: Hive-based AML reporting and lineage support auditability and transparency.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Scalable platform: Kafka + Spark + YARN support growth in volume without redesign.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Resilient operations: distributed storage/compute increase availability and reduce single points of failure.</a:t>
            </a:r>
          </a:p>
          <a:p>
            <a:pPr>
              <a:lnSpc>
                <a:spcPct val="110000"/>
              </a:lnSpc>
              <a:defRPr sz="1500"/>
            </a:pPr>
            <a:r>
              <a:rPr lang="en-US" sz="1500"/>
              <a:t>Customer trust and brand protection improve as fraud losses and response times decline.</a:t>
            </a:r>
          </a:p>
          <a:p>
            <a:pPr>
              <a:lnSpc>
                <a:spcPct val="110000"/>
              </a:lnSpc>
              <a:defRPr sz="1600" b="1"/>
            </a:pPr>
            <a:r>
              <a:rPr lang="en-US" sz="1500"/>
              <a:t>Conclusion: This architecture gives the global bank a practical, explainable, and scalable path to fraud prevention and AML compliance.</a:t>
            </a:r>
          </a:p>
        </p:txBody>
      </p:sp>
    </p:spTree>
    <p:extLst>
      <p:ext uri="{BB962C8B-B14F-4D97-AF65-F5344CB8AC3E}">
        <p14:creationId xmlns:p14="http://schemas.microsoft.com/office/powerpoint/2010/main" val="2176201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588</TotalTime>
  <Words>311</Words>
  <Application>Microsoft Macintosh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MS Shell Dlg 2</vt:lpstr>
      <vt:lpstr>Wingdings</vt:lpstr>
      <vt:lpstr>Wingdings 3</vt:lpstr>
      <vt:lpstr>Madison</vt:lpstr>
      <vt:lpstr>Problem Statement</vt:lpstr>
      <vt:lpstr>Proposed Architecture</vt:lpstr>
      <vt:lpstr>Benefits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Vance</dc:creator>
  <cp:lastModifiedBy>Gabriel Vance</cp:lastModifiedBy>
  <cp:revision>2</cp:revision>
  <dcterms:created xsi:type="dcterms:W3CDTF">2026-03-01T17:45:27Z</dcterms:created>
  <dcterms:modified xsi:type="dcterms:W3CDTF">2026-03-02T03:48:28Z</dcterms:modified>
</cp:coreProperties>
</file>